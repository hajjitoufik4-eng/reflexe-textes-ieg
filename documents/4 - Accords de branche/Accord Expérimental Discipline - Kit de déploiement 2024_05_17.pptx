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diagrams/data1.xml" ContentType="application/vnd.openxmlformats-officedocument.drawingml.diagramData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diagrams/quickStyle1.xml" ContentType="application/vnd.openxmlformats-officedocument.drawingml.diagramStyle+xml"/>
  <Override PartName="/ppt/authors.xml" ContentType="application/vnd.ms-powerpoint.authors+xml"/>
  <Override PartName="/ppt/diagrams/layout1.xml" ContentType="application/vnd.openxmlformats-officedocument.drawingml.diagramLayout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6.xml" ContentType="application/vnd.openxmlformats-officedocument.presentationml.tags+xml"/>
  <Override PartName="/docMetadata/LabelInfo.xml" ContentType="application/vnd.ms-office.classificationlabels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tags/tag7.xml" ContentType="application/vnd.openxmlformats-officedocument.presentationml.tags+xml"/>
  <Override PartName="/ppt/tags/tag5.xml" ContentType="application/vnd.openxmlformats-officedocument.presentationml.tag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9" r:id="rId1"/>
    <p:sldMasterId id="2147483701" r:id="rId2"/>
    <p:sldMasterId id="2147483713" r:id="rId3"/>
  </p:sldMasterIdLst>
  <p:notesMasterIdLst>
    <p:notesMasterId r:id="rId24"/>
  </p:notesMasterIdLst>
  <p:sldIdLst>
    <p:sldId id="256" r:id="rId4"/>
    <p:sldId id="262" r:id="rId5"/>
    <p:sldId id="257" r:id="rId6"/>
    <p:sldId id="263" r:id="rId7"/>
    <p:sldId id="258" r:id="rId8"/>
    <p:sldId id="259" r:id="rId9"/>
    <p:sldId id="502" r:id="rId10"/>
    <p:sldId id="264" r:id="rId11"/>
    <p:sldId id="504" r:id="rId12"/>
    <p:sldId id="265" r:id="rId13"/>
    <p:sldId id="266" r:id="rId14"/>
    <p:sldId id="507" r:id="rId15"/>
    <p:sldId id="503" r:id="rId16"/>
    <p:sldId id="267" r:id="rId17"/>
    <p:sldId id="261" r:id="rId18"/>
    <p:sldId id="269" r:id="rId19"/>
    <p:sldId id="505" r:id="rId20"/>
    <p:sldId id="506" r:id="rId21"/>
    <p:sldId id="508" r:id="rId22"/>
    <p:sldId id="509" r:id="rId23"/>
  </p:sldIdLst>
  <p:sldSz cx="12192000" cy="6858000"/>
  <p:notesSz cx="6742113" cy="9875838"/>
  <p:custDataLst>
    <p:tags r:id="rId25"/>
  </p:custDataLst>
  <p:defaultTextStyle>
    <a:defPPr>
      <a:defRPr lang="fr-FR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36928003-D8E3-3705-4716-80FBC346ABA8}" name="CLERC Marjorie" initials="CM" userId="S::marjorie.clerc@edf.fr::56344cf4-3d1d-4021-9921-f69e0918d9c0" providerId="AD"/>
  <p188:author id="{8DC28F3D-A14A-0B27-644D-11D2A2109C54}" name="BRIFFOTEAUX Laurence (ENGIE SA)" initials="LB" userId="S::ER1031@engie.com::fdc76fa7-d44e-405a-ab67-c31c4794386d" providerId="AD"/>
  <p188:author id="{13F576FC-9737-37FB-AF0A-E60ED88D9C0E}" name="ORIT BELLITY" initials="OB" userId="S::orit.bellity@sgeieg.fr::426b041b-07a7-455c-a405-1ea106fa28ad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992" autoAdjust="0"/>
    <p:restoredTop sz="87689" autoAdjust="0"/>
  </p:normalViewPr>
  <p:slideViewPr>
    <p:cSldViewPr snapToGrid="0">
      <p:cViewPr varScale="1">
        <p:scale>
          <a:sx n="109" d="100"/>
          <a:sy n="109" d="100"/>
        </p:scale>
        <p:origin x="4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tags" Target="tags/tag1.xml"/><Relationship Id="rId33" Type="http://schemas.openxmlformats.org/officeDocument/2006/relationships/customXml" Target="../customXml/item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notesMaster" Target="notesMasters/notesMaster1.xml"/><Relationship Id="rId32" Type="http://schemas.openxmlformats.org/officeDocument/2006/relationships/customXml" Target="../customXml/item2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theme" Target="theme/theme1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customXml" Target="../customXml/item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viewProps" Target="viewProps.xml"/><Relationship Id="rId30" Type="http://schemas.microsoft.com/office/2018/10/relationships/authors" Target="authors.xml"/><Relationship Id="rId8" Type="http://schemas.openxmlformats.org/officeDocument/2006/relationships/slide" Target="slides/slide5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720EE6F-D779-47DB-A9E7-208ECDA0B862}" type="doc">
      <dgm:prSet loTypeId="urn:microsoft.com/office/officeart/2005/8/layout/lProcess3" loCatId="process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fr-FR"/>
        </a:p>
      </dgm:t>
    </dgm:pt>
    <dgm:pt modelId="{3316D55E-09BC-4F0B-AB8E-B96F9CF8EC14}">
      <dgm:prSet phldrT="[Texte]"/>
      <dgm:spPr/>
      <dgm:t>
        <a:bodyPr/>
        <a:lstStyle/>
        <a:p>
          <a:r>
            <a:rPr lang="fr-FR" dirty="0"/>
            <a:t>Avertissement ou blâme sans saisine de la CSP</a:t>
          </a:r>
        </a:p>
      </dgm:t>
    </dgm:pt>
    <dgm:pt modelId="{FFE6DA5A-A50C-4F82-BC69-2DED4F1BD0E4}" type="parTrans" cxnId="{09A3167B-3F13-4A08-BDD0-B4462EB8FC61}">
      <dgm:prSet/>
      <dgm:spPr/>
      <dgm:t>
        <a:bodyPr/>
        <a:lstStyle/>
        <a:p>
          <a:endParaRPr lang="fr-FR"/>
        </a:p>
      </dgm:t>
    </dgm:pt>
    <dgm:pt modelId="{AF3F7FC8-4313-4623-B73A-BBD4C9CBF6A1}" type="sibTrans" cxnId="{09A3167B-3F13-4A08-BDD0-B4462EB8FC61}">
      <dgm:prSet/>
      <dgm:spPr/>
      <dgm:t>
        <a:bodyPr/>
        <a:lstStyle/>
        <a:p>
          <a:endParaRPr lang="fr-FR"/>
        </a:p>
      </dgm:t>
    </dgm:pt>
    <dgm:pt modelId="{B43A9EC3-74B9-41F1-A4C2-7D315548EDE1}">
      <dgm:prSet phldrT="[Texte]"/>
      <dgm:spPr/>
      <dgm:t>
        <a:bodyPr/>
        <a:lstStyle/>
        <a:p>
          <a:r>
            <a:rPr lang="fr-FR" dirty="0"/>
            <a:t>Recours en CSP</a:t>
          </a:r>
        </a:p>
      </dgm:t>
    </dgm:pt>
    <dgm:pt modelId="{6A172277-0D00-4DE7-831D-F93588E4552F}" type="parTrans" cxnId="{ED61DD4D-6AF3-40A7-9070-32B4A31BF89B}">
      <dgm:prSet/>
      <dgm:spPr/>
      <dgm:t>
        <a:bodyPr/>
        <a:lstStyle/>
        <a:p>
          <a:endParaRPr lang="fr-FR"/>
        </a:p>
      </dgm:t>
    </dgm:pt>
    <dgm:pt modelId="{55950411-084A-4423-9092-B92D60BE2463}" type="sibTrans" cxnId="{ED61DD4D-6AF3-40A7-9070-32B4A31BF89B}">
      <dgm:prSet/>
      <dgm:spPr/>
      <dgm:t>
        <a:bodyPr/>
        <a:lstStyle/>
        <a:p>
          <a:endParaRPr lang="fr-FR"/>
        </a:p>
      </dgm:t>
    </dgm:pt>
    <dgm:pt modelId="{D6FB1300-0C42-42E2-9AAD-51AF73592078}">
      <dgm:prSet phldrT="[Texte]"/>
      <dgm:spPr/>
      <dgm:t>
        <a:bodyPr/>
        <a:lstStyle/>
        <a:p>
          <a:r>
            <a:rPr lang="fr-FR" dirty="0"/>
            <a:t>Recours gracieux </a:t>
          </a:r>
        </a:p>
      </dgm:t>
    </dgm:pt>
    <dgm:pt modelId="{C3F1B2F9-906E-4EFB-B33B-72B582804CA8}" type="parTrans" cxnId="{8143133C-2BC4-41C9-9C1E-5AA2ABECE36E}">
      <dgm:prSet/>
      <dgm:spPr/>
      <dgm:t>
        <a:bodyPr/>
        <a:lstStyle/>
        <a:p>
          <a:endParaRPr lang="fr-FR"/>
        </a:p>
      </dgm:t>
    </dgm:pt>
    <dgm:pt modelId="{89BE5AD1-77EC-4FCE-9162-29D5E725B20E}" type="sibTrans" cxnId="{8143133C-2BC4-41C9-9C1E-5AA2ABECE36E}">
      <dgm:prSet/>
      <dgm:spPr/>
      <dgm:t>
        <a:bodyPr/>
        <a:lstStyle/>
        <a:p>
          <a:endParaRPr lang="fr-FR"/>
        </a:p>
      </dgm:t>
    </dgm:pt>
    <dgm:pt modelId="{49D794EC-5002-4FB5-A38E-DCE16F993B85}">
      <dgm:prSet phldrT="[Texte]"/>
      <dgm:spPr/>
      <dgm:t>
        <a:bodyPr/>
        <a:lstStyle/>
        <a:p>
          <a:r>
            <a:rPr lang="fr-FR" dirty="0"/>
            <a:t>Avertissement ou blâme avec saisine de la CSP</a:t>
          </a:r>
        </a:p>
      </dgm:t>
    </dgm:pt>
    <dgm:pt modelId="{E278290E-7D26-4BED-9DFC-1275DB40D9C2}" type="parTrans" cxnId="{B67A1502-9B26-47E4-B12A-478C8B6CE2DB}">
      <dgm:prSet/>
      <dgm:spPr/>
      <dgm:t>
        <a:bodyPr/>
        <a:lstStyle/>
        <a:p>
          <a:endParaRPr lang="fr-FR"/>
        </a:p>
      </dgm:t>
    </dgm:pt>
    <dgm:pt modelId="{6F82A12C-2B2B-474D-ABFB-DD6A1EEF19E6}" type="sibTrans" cxnId="{B67A1502-9B26-47E4-B12A-478C8B6CE2DB}">
      <dgm:prSet/>
      <dgm:spPr/>
      <dgm:t>
        <a:bodyPr/>
        <a:lstStyle/>
        <a:p>
          <a:endParaRPr lang="fr-FR"/>
        </a:p>
      </dgm:t>
    </dgm:pt>
    <dgm:pt modelId="{93E80408-5BF2-4993-8595-65C5571E9912}">
      <dgm:prSet phldrT="[Texte]"/>
      <dgm:spPr/>
      <dgm:t>
        <a:bodyPr/>
        <a:lstStyle/>
        <a:p>
          <a:r>
            <a:rPr lang="fr-FR" dirty="0"/>
            <a:t>Recours en CSP </a:t>
          </a:r>
          <a:r>
            <a:rPr lang="fr-FR" b="1" dirty="0">
              <a:solidFill>
                <a:schemeClr val="accent4"/>
              </a:solidFill>
            </a:rPr>
            <a:t>OU</a:t>
          </a:r>
          <a:r>
            <a:rPr lang="fr-FR" dirty="0"/>
            <a:t> en CSNP</a:t>
          </a:r>
        </a:p>
      </dgm:t>
    </dgm:pt>
    <dgm:pt modelId="{8820EAAB-6238-41A1-9B1E-1F1D0044D988}" type="parTrans" cxnId="{867E966F-125F-4978-B4EF-9B42061A82DD}">
      <dgm:prSet/>
      <dgm:spPr/>
      <dgm:t>
        <a:bodyPr/>
        <a:lstStyle/>
        <a:p>
          <a:endParaRPr lang="fr-FR"/>
        </a:p>
      </dgm:t>
    </dgm:pt>
    <dgm:pt modelId="{04A1DBF4-C6A6-4FB6-8521-368BB4FAEBD2}" type="sibTrans" cxnId="{867E966F-125F-4978-B4EF-9B42061A82DD}">
      <dgm:prSet/>
      <dgm:spPr/>
      <dgm:t>
        <a:bodyPr/>
        <a:lstStyle/>
        <a:p>
          <a:endParaRPr lang="fr-FR"/>
        </a:p>
      </dgm:t>
    </dgm:pt>
    <dgm:pt modelId="{70768287-6D3F-4B2E-B264-E6996419DBCA}">
      <dgm:prSet phldrT="[Texte]"/>
      <dgm:spPr/>
      <dgm:t>
        <a:bodyPr/>
        <a:lstStyle/>
        <a:p>
          <a:r>
            <a:rPr lang="fr-FR" dirty="0"/>
            <a:t>Rétrogradation de GF</a:t>
          </a:r>
        </a:p>
      </dgm:t>
    </dgm:pt>
    <dgm:pt modelId="{5CE01C74-8471-4AC7-907B-B42CE3878247}" type="parTrans" cxnId="{65750A22-8EE2-469C-8F56-83B760E12D3A}">
      <dgm:prSet/>
      <dgm:spPr/>
      <dgm:t>
        <a:bodyPr/>
        <a:lstStyle/>
        <a:p>
          <a:endParaRPr lang="fr-FR"/>
        </a:p>
      </dgm:t>
    </dgm:pt>
    <dgm:pt modelId="{943A9CAE-E4B5-4BA0-996E-D972B4D5E0B9}" type="sibTrans" cxnId="{65750A22-8EE2-469C-8F56-83B760E12D3A}">
      <dgm:prSet/>
      <dgm:spPr/>
      <dgm:t>
        <a:bodyPr/>
        <a:lstStyle/>
        <a:p>
          <a:endParaRPr lang="fr-FR"/>
        </a:p>
      </dgm:t>
    </dgm:pt>
    <dgm:pt modelId="{5A660EF1-4AD0-4A56-85C9-585C5A14C5D6}">
      <dgm:prSet phldrT="[Texte]"/>
      <dgm:spPr/>
      <dgm:t>
        <a:bodyPr/>
        <a:lstStyle/>
        <a:p>
          <a:r>
            <a:rPr lang="fr-FR" dirty="0"/>
            <a:t>Recours en CSP </a:t>
          </a:r>
          <a:r>
            <a:rPr lang="fr-FR" b="1" dirty="0">
              <a:solidFill>
                <a:schemeClr val="accent4"/>
              </a:solidFill>
            </a:rPr>
            <a:t>OU</a:t>
          </a:r>
          <a:r>
            <a:rPr lang="fr-FR" dirty="0"/>
            <a:t> en CSNP</a:t>
          </a:r>
        </a:p>
      </dgm:t>
    </dgm:pt>
    <dgm:pt modelId="{86D8FF29-13B4-4BD2-B9E2-E3578B885A60}" type="parTrans" cxnId="{CAFAF2F0-C74D-4EE8-8153-EE3AAA6ED731}">
      <dgm:prSet/>
      <dgm:spPr/>
      <dgm:t>
        <a:bodyPr/>
        <a:lstStyle/>
        <a:p>
          <a:endParaRPr lang="fr-FR"/>
        </a:p>
      </dgm:t>
    </dgm:pt>
    <dgm:pt modelId="{241BE93D-1FFA-4D96-B0A2-909EC5A3E122}" type="sibTrans" cxnId="{CAFAF2F0-C74D-4EE8-8153-EE3AAA6ED731}">
      <dgm:prSet/>
      <dgm:spPr/>
      <dgm:t>
        <a:bodyPr/>
        <a:lstStyle/>
        <a:p>
          <a:endParaRPr lang="fr-FR"/>
        </a:p>
      </dgm:t>
    </dgm:pt>
    <dgm:pt modelId="{1EA2C1DB-2997-487D-99B2-82DCE417B47B}">
      <dgm:prSet phldrT="[Texte]"/>
      <dgm:spPr/>
      <dgm:t>
        <a:bodyPr/>
        <a:lstStyle/>
        <a:p>
          <a:r>
            <a:rPr lang="fr-FR" dirty="0"/>
            <a:t>Recours en CSP</a:t>
          </a:r>
        </a:p>
      </dgm:t>
    </dgm:pt>
    <dgm:pt modelId="{F5088171-DAC4-4B1E-B562-E9C88165A97A}" type="parTrans" cxnId="{39A9F4CF-8891-4BFC-A33D-C5F454AEEDD2}">
      <dgm:prSet/>
      <dgm:spPr/>
      <dgm:t>
        <a:bodyPr/>
        <a:lstStyle/>
        <a:p>
          <a:endParaRPr lang="fr-FR"/>
        </a:p>
      </dgm:t>
    </dgm:pt>
    <dgm:pt modelId="{359D1661-6D06-4609-AE40-71DBA8F1049D}" type="sibTrans" cxnId="{39A9F4CF-8891-4BFC-A33D-C5F454AEEDD2}">
      <dgm:prSet/>
      <dgm:spPr/>
      <dgm:t>
        <a:bodyPr/>
        <a:lstStyle/>
        <a:p>
          <a:endParaRPr lang="fr-FR"/>
        </a:p>
      </dgm:t>
    </dgm:pt>
    <dgm:pt modelId="{A3EDE5D7-116A-465D-AB1E-46D775665904}">
      <dgm:prSet phldrT="[Texte]"/>
      <dgm:spPr/>
      <dgm:t>
        <a:bodyPr/>
        <a:lstStyle/>
        <a:p>
          <a:r>
            <a:rPr lang="fr-FR" dirty="0"/>
            <a:t>Recours en CSNP</a:t>
          </a:r>
        </a:p>
      </dgm:t>
    </dgm:pt>
    <dgm:pt modelId="{52AB0A40-3089-44B3-BDB1-4A1B4AD1B97C}" type="parTrans" cxnId="{E4BB59F3-3DAC-4CF1-B994-5E311E3F48A5}">
      <dgm:prSet/>
      <dgm:spPr/>
      <dgm:t>
        <a:bodyPr/>
        <a:lstStyle/>
        <a:p>
          <a:endParaRPr lang="fr-FR"/>
        </a:p>
      </dgm:t>
    </dgm:pt>
    <dgm:pt modelId="{98E41651-D08D-443F-BFE2-E24B9498C71C}" type="sibTrans" cxnId="{E4BB59F3-3DAC-4CF1-B994-5E311E3F48A5}">
      <dgm:prSet/>
      <dgm:spPr/>
      <dgm:t>
        <a:bodyPr/>
        <a:lstStyle/>
        <a:p>
          <a:endParaRPr lang="fr-FR"/>
        </a:p>
      </dgm:t>
    </dgm:pt>
    <dgm:pt modelId="{D58D0517-4881-4DB8-BE2C-7B21928A3610}">
      <dgm:prSet phldrT="[Texte]"/>
      <dgm:spPr/>
      <dgm:t>
        <a:bodyPr/>
        <a:lstStyle/>
        <a:p>
          <a:r>
            <a:rPr lang="fr-FR" dirty="0"/>
            <a:t>Recours gracieux</a:t>
          </a:r>
        </a:p>
      </dgm:t>
    </dgm:pt>
    <dgm:pt modelId="{6496C2C5-070A-4CB1-BD0C-98D06C630954}" type="parTrans" cxnId="{5A36FE29-4C40-471E-99C1-C4D478CCE938}">
      <dgm:prSet/>
      <dgm:spPr/>
      <dgm:t>
        <a:bodyPr/>
        <a:lstStyle/>
        <a:p>
          <a:endParaRPr lang="fr-FR"/>
        </a:p>
      </dgm:t>
    </dgm:pt>
    <dgm:pt modelId="{CFFA812A-A78E-49A1-8B37-49CA883915D6}" type="sibTrans" cxnId="{5A36FE29-4C40-471E-99C1-C4D478CCE938}">
      <dgm:prSet/>
      <dgm:spPr/>
      <dgm:t>
        <a:bodyPr/>
        <a:lstStyle/>
        <a:p>
          <a:endParaRPr lang="fr-FR"/>
        </a:p>
      </dgm:t>
    </dgm:pt>
    <dgm:pt modelId="{B4EA4ADA-C10C-4F9B-8404-999B5E7962DC}">
      <dgm:prSet phldrT="[Texte]"/>
      <dgm:spPr/>
      <dgm:t>
        <a:bodyPr/>
        <a:lstStyle/>
        <a:p>
          <a:r>
            <a:rPr lang="fr-FR" dirty="0"/>
            <a:t>Recours gracieux</a:t>
          </a:r>
        </a:p>
      </dgm:t>
    </dgm:pt>
    <dgm:pt modelId="{EE833488-30EA-4169-8FB5-FB657A4AEE3B}" type="parTrans" cxnId="{2D803DA5-E46A-4AB3-B9D1-0E8927CCB993}">
      <dgm:prSet/>
      <dgm:spPr/>
      <dgm:t>
        <a:bodyPr/>
        <a:lstStyle/>
        <a:p>
          <a:endParaRPr lang="fr-FR"/>
        </a:p>
      </dgm:t>
    </dgm:pt>
    <dgm:pt modelId="{9BF71B17-4DF9-4E4A-974D-1A5C6CFD3ECF}" type="sibTrans" cxnId="{2D803DA5-E46A-4AB3-B9D1-0E8927CCB993}">
      <dgm:prSet/>
      <dgm:spPr/>
      <dgm:t>
        <a:bodyPr/>
        <a:lstStyle/>
        <a:p>
          <a:endParaRPr lang="fr-FR"/>
        </a:p>
      </dgm:t>
    </dgm:pt>
    <dgm:pt modelId="{3B3D2ECB-4EDC-4710-9B43-217A14FC510C}">
      <dgm:prSet phldrT="[Texte]" custT="1"/>
      <dgm:spPr/>
      <dgm:t>
        <a:bodyPr/>
        <a:lstStyle/>
        <a:p>
          <a:r>
            <a:rPr lang="fr-FR" sz="1600" dirty="0"/>
            <a:t>Mise à la retraite d’office  </a:t>
          </a:r>
          <a:br>
            <a:rPr lang="fr-FR" sz="1600" dirty="0"/>
          </a:br>
          <a:r>
            <a:rPr lang="fr-FR" sz="1600" dirty="0"/>
            <a:t>(</a:t>
          </a:r>
          <a:r>
            <a:rPr lang="fr-FR" sz="1600" b="1" dirty="0"/>
            <a:t>1</a:t>
          </a:r>
          <a:r>
            <a:rPr lang="fr-FR" sz="1600" b="1" baseline="30000" dirty="0"/>
            <a:t>ère</a:t>
          </a:r>
          <a:r>
            <a:rPr lang="fr-FR" sz="1600" b="1" dirty="0"/>
            <a:t> possibilité</a:t>
          </a:r>
          <a:r>
            <a:rPr lang="fr-FR" sz="1600" dirty="0"/>
            <a:t>)</a:t>
          </a:r>
        </a:p>
      </dgm:t>
    </dgm:pt>
    <dgm:pt modelId="{E5EB65D8-641D-4B42-A17F-7D27CE9ABE92}" type="sibTrans" cxnId="{1FBB5382-90B0-414C-A0C5-56FB0606F1E6}">
      <dgm:prSet/>
      <dgm:spPr/>
      <dgm:t>
        <a:bodyPr/>
        <a:lstStyle/>
        <a:p>
          <a:endParaRPr lang="fr-FR"/>
        </a:p>
      </dgm:t>
    </dgm:pt>
    <dgm:pt modelId="{9678B647-D79A-44A3-B15A-5CAF0EB1F1DF}" type="parTrans" cxnId="{1FBB5382-90B0-414C-A0C5-56FB0606F1E6}">
      <dgm:prSet/>
      <dgm:spPr/>
      <dgm:t>
        <a:bodyPr/>
        <a:lstStyle/>
        <a:p>
          <a:endParaRPr lang="fr-FR"/>
        </a:p>
      </dgm:t>
    </dgm:pt>
    <dgm:pt modelId="{327D58CC-7746-4C98-9B8E-D119CAD700D5}">
      <dgm:prSet phldrT="[Texte]" custT="1"/>
      <dgm:spPr>
        <a:solidFill>
          <a:srgbClr val="3F54A1">
            <a:hueOff val="3982933"/>
            <a:satOff val="25662"/>
            <a:lumOff val="24706"/>
            <a:alphaOff val="0"/>
          </a:srgbClr>
        </a:solidFill>
        <a:ln w="12700" cap="flat" cmpd="sng" algn="ctr">
          <a:solidFill>
            <a:srgbClr val="FFFFFF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gm:spPr>
      <dgm:t>
        <a:bodyPr spcFirstLastPara="0" vert="horz" wrap="square" lIns="17780" tIns="8890" rIns="0" bIns="8890" numCol="1" spcCol="1270" anchor="ctr" anchorCtr="0"/>
        <a:lstStyle/>
        <a:p>
          <a:r>
            <a:rPr lang="fr-FR" sz="1600" kern="1200" dirty="0"/>
            <a:t>Mise à la retraite </a:t>
          </a:r>
          <a:r>
            <a:rPr lang="fr-FR" sz="1600" kern="1200" dirty="0">
              <a:solidFill>
                <a:srgbClr val="FFFFFF"/>
              </a:solidFill>
              <a:latin typeface="Calibri" panose="020F0502020204030204"/>
              <a:ea typeface="+mn-ea"/>
              <a:cs typeface="+mn-cs"/>
            </a:rPr>
            <a:t>d’office</a:t>
          </a:r>
          <a:br>
            <a:rPr lang="fr-FR" sz="1600" kern="1200" dirty="0"/>
          </a:br>
          <a:r>
            <a:rPr lang="fr-FR" sz="1600" kern="1200" dirty="0"/>
            <a:t>(</a:t>
          </a:r>
          <a:r>
            <a:rPr lang="fr-FR" sz="1600" b="1" kern="1200" dirty="0"/>
            <a:t>2</a:t>
          </a:r>
          <a:r>
            <a:rPr lang="fr-FR" sz="1600" b="1" kern="1200" baseline="30000" dirty="0"/>
            <a:t>ème</a:t>
          </a:r>
          <a:r>
            <a:rPr lang="fr-FR" sz="1600" b="1" kern="1200" dirty="0"/>
            <a:t> possibilité) </a:t>
          </a:r>
        </a:p>
      </dgm:t>
    </dgm:pt>
    <dgm:pt modelId="{6FA1BD6F-AFF5-444B-B966-DDF66B0156D7}" type="parTrans" cxnId="{A83E2D12-673F-4CBF-A36E-5A1856075099}">
      <dgm:prSet/>
      <dgm:spPr/>
      <dgm:t>
        <a:bodyPr/>
        <a:lstStyle/>
        <a:p>
          <a:endParaRPr lang="fr-FR"/>
        </a:p>
      </dgm:t>
    </dgm:pt>
    <dgm:pt modelId="{DEA0506B-221F-4EF5-A94C-9FB75650F75A}" type="sibTrans" cxnId="{A83E2D12-673F-4CBF-A36E-5A1856075099}">
      <dgm:prSet/>
      <dgm:spPr/>
      <dgm:t>
        <a:bodyPr/>
        <a:lstStyle/>
        <a:p>
          <a:endParaRPr lang="fr-FR"/>
        </a:p>
      </dgm:t>
    </dgm:pt>
    <dgm:pt modelId="{023FFA26-DC8B-4539-9F1D-4EA3BE3746EE}">
      <dgm:prSet phldrT="[Texte]"/>
      <dgm:spPr>
        <a:solidFill>
          <a:srgbClr val="3F54A1">
            <a:tint val="40000"/>
            <a:alpha val="90000"/>
            <a:hueOff val="3102342"/>
            <a:satOff val="31504"/>
            <a:lumOff val="4794"/>
            <a:alphaOff val="0"/>
          </a:srgbClr>
        </a:solidFill>
        <a:ln w="12700" cap="flat" cmpd="sng" algn="ctr">
          <a:solidFill>
            <a:srgbClr val="3F54A1">
              <a:tint val="40000"/>
              <a:alpha val="90000"/>
              <a:hueOff val="3102342"/>
              <a:satOff val="31504"/>
              <a:lumOff val="4794"/>
              <a:alphaOff val="0"/>
            </a:srgbClr>
          </a:solidFill>
          <a:prstDash val="solid"/>
          <a:miter lim="800000"/>
        </a:ln>
        <a:effectLst/>
      </dgm:spPr>
      <dgm:t>
        <a:bodyPr spcFirstLastPara="0" vert="horz" wrap="square" lIns="19050" tIns="9525" rIns="0" bIns="9525" numCol="1" spcCol="1270" anchor="ctr" anchorCtr="0"/>
        <a:lstStyle/>
        <a:p>
          <a:r>
            <a:rPr lang="fr-FR" dirty="0"/>
            <a:t>Recours en CSNP</a:t>
          </a:r>
        </a:p>
      </dgm:t>
    </dgm:pt>
    <dgm:pt modelId="{84900DF8-4DBC-408B-897E-7CB15D99DC68}" type="parTrans" cxnId="{B875C12E-EE13-455C-BEB1-12C096191DDF}">
      <dgm:prSet/>
      <dgm:spPr/>
      <dgm:t>
        <a:bodyPr/>
        <a:lstStyle/>
        <a:p>
          <a:endParaRPr lang="fr-FR"/>
        </a:p>
      </dgm:t>
    </dgm:pt>
    <dgm:pt modelId="{2B9ED287-56BC-4882-AFDC-A3FBE29C97EB}" type="sibTrans" cxnId="{B875C12E-EE13-455C-BEB1-12C096191DDF}">
      <dgm:prSet/>
      <dgm:spPr/>
      <dgm:t>
        <a:bodyPr/>
        <a:lstStyle/>
        <a:p>
          <a:endParaRPr lang="fr-FR"/>
        </a:p>
      </dgm:t>
    </dgm:pt>
    <dgm:pt modelId="{DC098E59-4783-4C75-AA68-97FB539F2D3B}">
      <dgm:prSet phldrT="[Texte]" custT="1"/>
      <dgm:spPr>
        <a:solidFill>
          <a:srgbClr val="3F54A1">
            <a:tint val="40000"/>
            <a:alpha val="90000"/>
            <a:hueOff val="3619398"/>
            <a:satOff val="36754"/>
            <a:lumOff val="5593"/>
            <a:alphaOff val="0"/>
          </a:srgbClr>
        </a:solidFill>
        <a:ln w="12700" cap="flat" cmpd="sng" algn="ctr">
          <a:solidFill>
            <a:srgbClr val="3F54A1">
              <a:tint val="40000"/>
              <a:alpha val="90000"/>
              <a:hueOff val="3619398"/>
              <a:satOff val="36754"/>
              <a:lumOff val="5593"/>
              <a:alphaOff val="0"/>
            </a:srgbClr>
          </a:solidFill>
          <a:prstDash val="solid"/>
          <a:miter lim="800000"/>
        </a:ln>
        <a:effectLst/>
      </dgm:spPr>
      <dgm:t>
        <a:bodyPr spcFirstLastPara="0" vert="horz" wrap="square" lIns="19050" tIns="9525" rIns="0" bIns="9525" numCol="1" spcCol="1270" anchor="ctr" anchorCtr="0"/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400" kern="1200" dirty="0">
              <a:solidFill>
                <a:srgbClr val="3F54A1">
                  <a:hueOff val="0"/>
                  <a:satOff val="0"/>
                  <a:lumOff val="0"/>
                  <a:alphaOff val="0"/>
                </a:srgbClr>
              </a:solidFill>
              <a:latin typeface="Calibri" panose="020F0502020204030204"/>
              <a:ea typeface="+mn-ea"/>
              <a:cs typeface="+mn-cs"/>
            </a:rPr>
            <a:t>Recours gracieux </a:t>
          </a:r>
        </a:p>
      </dgm:t>
    </dgm:pt>
    <dgm:pt modelId="{3D50D16C-F3AE-44E5-9919-AB612CE73127}" type="parTrans" cxnId="{5F991333-7A52-4970-A919-8C40B85D8A9B}">
      <dgm:prSet/>
      <dgm:spPr/>
      <dgm:t>
        <a:bodyPr/>
        <a:lstStyle/>
        <a:p>
          <a:endParaRPr lang="fr-FR"/>
        </a:p>
      </dgm:t>
    </dgm:pt>
    <dgm:pt modelId="{5FF7C38D-133E-4F97-97BF-3EAA40011A9A}" type="sibTrans" cxnId="{5F991333-7A52-4970-A919-8C40B85D8A9B}">
      <dgm:prSet/>
      <dgm:spPr/>
      <dgm:t>
        <a:bodyPr/>
        <a:lstStyle/>
        <a:p>
          <a:endParaRPr lang="fr-FR"/>
        </a:p>
      </dgm:t>
    </dgm:pt>
    <dgm:pt modelId="{3493637D-5331-430A-8DFA-B65321394802}">
      <dgm:prSet phldrT="[Texte]"/>
      <dgm:spPr/>
      <dgm:t>
        <a:bodyPr/>
        <a:lstStyle/>
        <a:p>
          <a:r>
            <a:rPr lang="fr-FR" dirty="0"/>
            <a:t>Recours gracieux</a:t>
          </a:r>
        </a:p>
      </dgm:t>
    </dgm:pt>
    <dgm:pt modelId="{2F4994D3-3578-472C-8BBB-D89E43727AC3}" type="parTrans" cxnId="{6701C77E-7896-45AB-9589-669708982345}">
      <dgm:prSet/>
      <dgm:spPr/>
      <dgm:t>
        <a:bodyPr/>
        <a:lstStyle/>
        <a:p>
          <a:endParaRPr lang="fr-FR"/>
        </a:p>
      </dgm:t>
    </dgm:pt>
    <dgm:pt modelId="{F40AC981-FC5D-401A-BB44-6EA33FB38876}" type="sibTrans" cxnId="{6701C77E-7896-45AB-9589-669708982345}">
      <dgm:prSet/>
      <dgm:spPr/>
      <dgm:t>
        <a:bodyPr/>
        <a:lstStyle/>
        <a:p>
          <a:endParaRPr lang="fr-FR"/>
        </a:p>
      </dgm:t>
    </dgm:pt>
    <dgm:pt modelId="{C95B06D2-01D8-4E40-BD84-B217BCDA79C0}" type="pres">
      <dgm:prSet presAssocID="{0720EE6F-D779-47DB-A9E7-208ECDA0B862}" presName="Name0" presStyleCnt="0">
        <dgm:presLayoutVars>
          <dgm:chPref val="3"/>
          <dgm:dir/>
          <dgm:animLvl val="lvl"/>
          <dgm:resizeHandles/>
        </dgm:presLayoutVars>
      </dgm:prSet>
      <dgm:spPr/>
    </dgm:pt>
    <dgm:pt modelId="{0521FB97-98C6-4B8F-8FBD-92A76A6E134C}" type="pres">
      <dgm:prSet presAssocID="{3316D55E-09BC-4F0B-AB8E-B96F9CF8EC14}" presName="horFlow" presStyleCnt="0"/>
      <dgm:spPr/>
    </dgm:pt>
    <dgm:pt modelId="{85DAF251-5FF5-4738-9E90-AEEB5FD56565}" type="pres">
      <dgm:prSet presAssocID="{3316D55E-09BC-4F0B-AB8E-B96F9CF8EC14}" presName="bigChev" presStyleLbl="node1" presStyleIdx="0" presStyleCnt="5"/>
      <dgm:spPr/>
    </dgm:pt>
    <dgm:pt modelId="{FB2F8984-1F86-4C59-A530-A1A41384C8B9}" type="pres">
      <dgm:prSet presAssocID="{6A172277-0D00-4DE7-831D-F93588E4552F}" presName="parTrans" presStyleCnt="0"/>
      <dgm:spPr/>
    </dgm:pt>
    <dgm:pt modelId="{0472DB1A-3C5F-4A57-8430-63E72D60CADF}" type="pres">
      <dgm:prSet presAssocID="{B43A9EC3-74B9-41F1-A4C2-7D315548EDE1}" presName="node" presStyleLbl="alignAccFollowNode1" presStyleIdx="0" presStyleCnt="11">
        <dgm:presLayoutVars>
          <dgm:bulletEnabled val="1"/>
        </dgm:presLayoutVars>
      </dgm:prSet>
      <dgm:spPr/>
    </dgm:pt>
    <dgm:pt modelId="{1D60D167-7CED-4D24-A264-C992E7CDFE6E}" type="pres">
      <dgm:prSet presAssocID="{55950411-084A-4423-9092-B92D60BE2463}" presName="sibTrans" presStyleCnt="0"/>
      <dgm:spPr/>
    </dgm:pt>
    <dgm:pt modelId="{F7E1374C-2E99-427C-AEF2-AD048F034D0A}" type="pres">
      <dgm:prSet presAssocID="{D6FB1300-0C42-42E2-9AAD-51AF73592078}" presName="node" presStyleLbl="alignAccFollowNode1" presStyleIdx="1" presStyleCnt="11">
        <dgm:presLayoutVars>
          <dgm:bulletEnabled val="1"/>
        </dgm:presLayoutVars>
      </dgm:prSet>
      <dgm:spPr/>
    </dgm:pt>
    <dgm:pt modelId="{E25A8772-0C28-423A-A6DF-4647753EC986}" type="pres">
      <dgm:prSet presAssocID="{3316D55E-09BC-4F0B-AB8E-B96F9CF8EC14}" presName="vSp" presStyleCnt="0"/>
      <dgm:spPr/>
    </dgm:pt>
    <dgm:pt modelId="{1DBCB8F8-2ADA-4241-BB79-9004A0730A0A}" type="pres">
      <dgm:prSet presAssocID="{49D794EC-5002-4FB5-A38E-DCE16F993B85}" presName="horFlow" presStyleCnt="0"/>
      <dgm:spPr/>
    </dgm:pt>
    <dgm:pt modelId="{351135ED-679F-4815-9C63-B5328C4EA237}" type="pres">
      <dgm:prSet presAssocID="{49D794EC-5002-4FB5-A38E-DCE16F993B85}" presName="bigChev" presStyleLbl="node1" presStyleIdx="1" presStyleCnt="5"/>
      <dgm:spPr/>
    </dgm:pt>
    <dgm:pt modelId="{EF2DB82D-353F-4219-AA52-4BD76484EE78}" type="pres">
      <dgm:prSet presAssocID="{8820EAAB-6238-41A1-9B1E-1F1D0044D988}" presName="parTrans" presStyleCnt="0"/>
      <dgm:spPr/>
    </dgm:pt>
    <dgm:pt modelId="{19A4E476-7973-4F07-95D6-284C41DF0079}" type="pres">
      <dgm:prSet presAssocID="{93E80408-5BF2-4993-8595-65C5571E9912}" presName="node" presStyleLbl="alignAccFollowNode1" presStyleIdx="2" presStyleCnt="11" custScaleX="137093">
        <dgm:presLayoutVars>
          <dgm:bulletEnabled val="1"/>
        </dgm:presLayoutVars>
      </dgm:prSet>
      <dgm:spPr/>
    </dgm:pt>
    <dgm:pt modelId="{0F04E0B2-1565-4580-873B-682B11CAD521}" type="pres">
      <dgm:prSet presAssocID="{04A1DBF4-C6A6-4FB6-8521-368BB4FAEBD2}" presName="sibTrans" presStyleCnt="0"/>
      <dgm:spPr/>
    </dgm:pt>
    <dgm:pt modelId="{DD3051E5-4029-4BF6-BC8F-2111A0A04183}" type="pres">
      <dgm:prSet presAssocID="{D58D0517-4881-4DB8-BE2C-7B21928A3610}" presName="node" presStyleLbl="alignAccFollowNode1" presStyleIdx="3" presStyleCnt="11">
        <dgm:presLayoutVars>
          <dgm:bulletEnabled val="1"/>
        </dgm:presLayoutVars>
      </dgm:prSet>
      <dgm:spPr/>
    </dgm:pt>
    <dgm:pt modelId="{2821E779-4060-43B3-968D-DCA8DDD12038}" type="pres">
      <dgm:prSet presAssocID="{49D794EC-5002-4FB5-A38E-DCE16F993B85}" presName="vSp" presStyleCnt="0"/>
      <dgm:spPr/>
    </dgm:pt>
    <dgm:pt modelId="{4EB94491-F5CF-4465-808B-15793533F57E}" type="pres">
      <dgm:prSet presAssocID="{70768287-6D3F-4B2E-B264-E6996419DBCA}" presName="horFlow" presStyleCnt="0"/>
      <dgm:spPr/>
    </dgm:pt>
    <dgm:pt modelId="{7DB608EC-0FA1-4AF8-821C-33F5DF71F656}" type="pres">
      <dgm:prSet presAssocID="{70768287-6D3F-4B2E-B264-E6996419DBCA}" presName="bigChev" presStyleLbl="node1" presStyleIdx="2" presStyleCnt="5"/>
      <dgm:spPr/>
    </dgm:pt>
    <dgm:pt modelId="{B6D8CDB8-48AA-4472-9C23-E9C8B4AE2BAD}" type="pres">
      <dgm:prSet presAssocID="{86D8FF29-13B4-4BD2-B9E2-E3578B885A60}" presName="parTrans" presStyleCnt="0"/>
      <dgm:spPr/>
    </dgm:pt>
    <dgm:pt modelId="{4841D186-6276-4472-B315-DE8382CFDDE5}" type="pres">
      <dgm:prSet presAssocID="{5A660EF1-4AD0-4A56-85C9-585C5A14C5D6}" presName="node" presStyleLbl="alignAccFollowNode1" presStyleIdx="4" presStyleCnt="11" custScaleX="137093">
        <dgm:presLayoutVars>
          <dgm:bulletEnabled val="1"/>
        </dgm:presLayoutVars>
      </dgm:prSet>
      <dgm:spPr/>
    </dgm:pt>
    <dgm:pt modelId="{BE06A099-EEE7-4A68-9398-783B4CEFC463}" type="pres">
      <dgm:prSet presAssocID="{241BE93D-1FFA-4D96-B0A2-909EC5A3E122}" presName="sibTrans" presStyleCnt="0"/>
      <dgm:spPr/>
    </dgm:pt>
    <dgm:pt modelId="{8036080A-2C10-4CEC-B6E1-45FCDD401990}" type="pres">
      <dgm:prSet presAssocID="{B4EA4ADA-C10C-4F9B-8404-999B5E7962DC}" presName="node" presStyleLbl="alignAccFollowNode1" presStyleIdx="5" presStyleCnt="11">
        <dgm:presLayoutVars>
          <dgm:bulletEnabled val="1"/>
        </dgm:presLayoutVars>
      </dgm:prSet>
      <dgm:spPr/>
    </dgm:pt>
    <dgm:pt modelId="{8BB606D6-535C-4422-87A9-07CF2EE3D2FD}" type="pres">
      <dgm:prSet presAssocID="{70768287-6D3F-4B2E-B264-E6996419DBCA}" presName="vSp" presStyleCnt="0"/>
      <dgm:spPr/>
    </dgm:pt>
    <dgm:pt modelId="{99244476-626C-4E61-97A0-86DD7F62514B}" type="pres">
      <dgm:prSet presAssocID="{3B3D2ECB-4EDC-4710-9B43-217A14FC510C}" presName="horFlow" presStyleCnt="0"/>
      <dgm:spPr/>
    </dgm:pt>
    <dgm:pt modelId="{F755C796-CA68-4FF6-82A6-DA7462DA6FA6}" type="pres">
      <dgm:prSet presAssocID="{3B3D2ECB-4EDC-4710-9B43-217A14FC510C}" presName="bigChev" presStyleLbl="node1" presStyleIdx="3" presStyleCnt="5" custScaleY="103413" custLinFactNeighborY="-1046"/>
      <dgm:spPr/>
    </dgm:pt>
    <dgm:pt modelId="{435504A6-6A60-47BB-B788-B5FCC92580D5}" type="pres">
      <dgm:prSet presAssocID="{F5088171-DAC4-4B1E-B562-E9C88165A97A}" presName="parTrans" presStyleCnt="0"/>
      <dgm:spPr/>
    </dgm:pt>
    <dgm:pt modelId="{1760288A-FE65-4550-BF2B-2C7E70A95C1F}" type="pres">
      <dgm:prSet presAssocID="{1EA2C1DB-2997-487D-99B2-82DCE417B47B}" presName="node" presStyleLbl="alignAccFollowNode1" presStyleIdx="6" presStyleCnt="11" custScaleY="121050" custLinFactNeighborX="-10940" custLinFactNeighborY="-5351">
        <dgm:presLayoutVars>
          <dgm:bulletEnabled val="1"/>
        </dgm:presLayoutVars>
      </dgm:prSet>
      <dgm:spPr/>
    </dgm:pt>
    <dgm:pt modelId="{01590750-5662-47F8-BF6F-63DDA66BA986}" type="pres">
      <dgm:prSet presAssocID="{359D1661-6D06-4609-AE40-71DBA8F1049D}" presName="sibTrans" presStyleCnt="0"/>
      <dgm:spPr/>
    </dgm:pt>
    <dgm:pt modelId="{254E2413-6F87-422A-818A-A37403EE0476}" type="pres">
      <dgm:prSet presAssocID="{A3EDE5D7-116A-465D-AB1E-46D775665904}" presName="node" presStyleLbl="alignAccFollowNode1" presStyleIdx="7" presStyleCnt="11" custScaleY="124869" custLinFactNeighborX="-30125" custLinFactNeighborY="1179">
        <dgm:presLayoutVars>
          <dgm:bulletEnabled val="1"/>
        </dgm:presLayoutVars>
      </dgm:prSet>
      <dgm:spPr/>
    </dgm:pt>
    <dgm:pt modelId="{BE980D58-2831-4B11-A744-1938F28FC2EC}" type="pres">
      <dgm:prSet presAssocID="{98E41651-D08D-443F-BFE2-E24B9498C71C}" presName="sibTrans" presStyleCnt="0"/>
      <dgm:spPr/>
    </dgm:pt>
    <dgm:pt modelId="{5854FF17-0A23-411A-BEFB-AF3F5413C770}" type="pres">
      <dgm:prSet presAssocID="{3493637D-5331-430A-8DFA-B65321394802}" presName="node" presStyleLbl="alignAccFollowNode1" presStyleIdx="8" presStyleCnt="11" custScaleY="119341" custLinFactNeighborX="-58566" custLinFactNeighborY="-1522">
        <dgm:presLayoutVars>
          <dgm:bulletEnabled val="1"/>
        </dgm:presLayoutVars>
      </dgm:prSet>
      <dgm:spPr/>
    </dgm:pt>
    <dgm:pt modelId="{DE823F67-0379-460D-B1DA-A2AF63CF0B4C}" type="pres">
      <dgm:prSet presAssocID="{3B3D2ECB-4EDC-4710-9B43-217A14FC510C}" presName="vSp" presStyleCnt="0"/>
      <dgm:spPr/>
    </dgm:pt>
    <dgm:pt modelId="{A63BACC6-3453-4AB5-B77F-39989CA86137}" type="pres">
      <dgm:prSet presAssocID="{327D58CC-7746-4C98-9B8E-D119CAD700D5}" presName="horFlow" presStyleCnt="0"/>
      <dgm:spPr/>
    </dgm:pt>
    <dgm:pt modelId="{E508C6E5-EFA8-4F76-A562-6E6605CBB373}" type="pres">
      <dgm:prSet presAssocID="{327D58CC-7746-4C98-9B8E-D119CAD700D5}" presName="bigChev" presStyleLbl="node1" presStyleIdx="4" presStyleCnt="5" custLinFactNeighborX="-9183" custLinFactNeighborY="34952"/>
      <dgm:spPr>
        <a:xfrm>
          <a:off x="2198582" y="3568534"/>
          <a:ext cx="1956271" cy="782508"/>
        </a:xfrm>
        <a:prstGeom prst="chevron">
          <a:avLst/>
        </a:prstGeom>
      </dgm:spPr>
    </dgm:pt>
    <dgm:pt modelId="{958F5A4E-C894-44D6-BB64-EE158B983624}" type="pres">
      <dgm:prSet presAssocID="{84900DF8-4DBC-408B-897E-7CB15D99DC68}" presName="parTrans" presStyleCnt="0"/>
      <dgm:spPr/>
    </dgm:pt>
    <dgm:pt modelId="{B9B0A003-0886-4EFF-862C-5C263B6C6951}" type="pres">
      <dgm:prSet presAssocID="{023FFA26-DC8B-4539-9F1D-4EA3BE3746EE}" presName="node" presStyleLbl="alignAccFollowNode1" presStyleIdx="9" presStyleCnt="11" custScaleY="115900" custLinFactNeighborY="1377">
        <dgm:presLayoutVars>
          <dgm:bulletEnabled val="1"/>
        </dgm:presLayoutVars>
      </dgm:prSet>
      <dgm:spPr>
        <a:xfrm>
          <a:off x="3900538" y="3635047"/>
          <a:ext cx="1623705" cy="649482"/>
        </a:xfrm>
        <a:prstGeom prst="chevron">
          <a:avLst/>
        </a:prstGeom>
      </dgm:spPr>
    </dgm:pt>
    <dgm:pt modelId="{342229BC-40C5-4EF2-AF7A-8E5D02AA9716}" type="pres">
      <dgm:prSet presAssocID="{2B9ED287-56BC-4882-AFDC-A3FBE29C97EB}" presName="sibTrans" presStyleCnt="0"/>
      <dgm:spPr/>
    </dgm:pt>
    <dgm:pt modelId="{B44AB665-26CC-44EC-A791-CD5EEC5676EA}" type="pres">
      <dgm:prSet presAssocID="{DC098E59-4783-4C75-AA68-97FB539F2D3B}" presName="node" presStyleLbl="alignAccFollowNode1" presStyleIdx="10" presStyleCnt="11" custScaleY="108133" custLinFactNeighborY="1377">
        <dgm:presLayoutVars>
          <dgm:bulletEnabled val="1"/>
        </dgm:presLayoutVars>
      </dgm:prSet>
      <dgm:spPr>
        <a:xfrm>
          <a:off x="5296925" y="3635047"/>
          <a:ext cx="1623705" cy="649482"/>
        </a:xfrm>
        <a:prstGeom prst="chevron">
          <a:avLst/>
        </a:prstGeom>
      </dgm:spPr>
    </dgm:pt>
  </dgm:ptLst>
  <dgm:cxnLst>
    <dgm:cxn modelId="{B67A1502-9B26-47E4-B12A-478C8B6CE2DB}" srcId="{0720EE6F-D779-47DB-A9E7-208ECDA0B862}" destId="{49D794EC-5002-4FB5-A38E-DCE16F993B85}" srcOrd="1" destOrd="0" parTransId="{E278290E-7D26-4BED-9DFC-1275DB40D9C2}" sibTransId="{6F82A12C-2B2B-474D-ABFB-DD6A1EEF19E6}"/>
    <dgm:cxn modelId="{A83E2D12-673F-4CBF-A36E-5A1856075099}" srcId="{0720EE6F-D779-47DB-A9E7-208ECDA0B862}" destId="{327D58CC-7746-4C98-9B8E-D119CAD700D5}" srcOrd="4" destOrd="0" parTransId="{6FA1BD6F-AFF5-444B-B966-DDF66B0156D7}" sibTransId="{DEA0506B-221F-4EF5-A94C-9FB75650F75A}"/>
    <dgm:cxn modelId="{6A043417-8E0E-41D0-BD95-4595BE2880A7}" type="presOf" srcId="{3316D55E-09BC-4F0B-AB8E-B96F9CF8EC14}" destId="{85DAF251-5FF5-4738-9E90-AEEB5FD56565}" srcOrd="0" destOrd="0" presId="urn:microsoft.com/office/officeart/2005/8/layout/lProcess3"/>
    <dgm:cxn modelId="{65750A22-8EE2-469C-8F56-83B760E12D3A}" srcId="{0720EE6F-D779-47DB-A9E7-208ECDA0B862}" destId="{70768287-6D3F-4B2E-B264-E6996419DBCA}" srcOrd="2" destOrd="0" parTransId="{5CE01C74-8471-4AC7-907B-B42CE3878247}" sibTransId="{943A9CAE-E4B5-4BA0-996E-D972B4D5E0B9}"/>
    <dgm:cxn modelId="{5A36FE29-4C40-471E-99C1-C4D478CCE938}" srcId="{49D794EC-5002-4FB5-A38E-DCE16F993B85}" destId="{D58D0517-4881-4DB8-BE2C-7B21928A3610}" srcOrd="1" destOrd="0" parTransId="{6496C2C5-070A-4CB1-BD0C-98D06C630954}" sibTransId="{CFFA812A-A78E-49A1-8B37-49CA883915D6}"/>
    <dgm:cxn modelId="{B875C12E-EE13-455C-BEB1-12C096191DDF}" srcId="{327D58CC-7746-4C98-9B8E-D119CAD700D5}" destId="{023FFA26-DC8B-4539-9F1D-4EA3BE3746EE}" srcOrd="0" destOrd="0" parTransId="{84900DF8-4DBC-408B-897E-7CB15D99DC68}" sibTransId="{2B9ED287-56BC-4882-AFDC-A3FBE29C97EB}"/>
    <dgm:cxn modelId="{5F991333-7A52-4970-A919-8C40B85D8A9B}" srcId="{327D58CC-7746-4C98-9B8E-D119CAD700D5}" destId="{DC098E59-4783-4C75-AA68-97FB539F2D3B}" srcOrd="1" destOrd="0" parTransId="{3D50D16C-F3AE-44E5-9919-AB612CE73127}" sibTransId="{5FF7C38D-133E-4F97-97BF-3EAA40011A9A}"/>
    <dgm:cxn modelId="{1E512E36-75B5-4D92-BB96-2D340BF163BF}" type="presOf" srcId="{93E80408-5BF2-4993-8595-65C5571E9912}" destId="{19A4E476-7973-4F07-95D6-284C41DF0079}" srcOrd="0" destOrd="0" presId="urn:microsoft.com/office/officeart/2005/8/layout/lProcess3"/>
    <dgm:cxn modelId="{8143133C-2BC4-41C9-9C1E-5AA2ABECE36E}" srcId="{3316D55E-09BC-4F0B-AB8E-B96F9CF8EC14}" destId="{D6FB1300-0C42-42E2-9AAD-51AF73592078}" srcOrd="1" destOrd="0" parTransId="{C3F1B2F9-906E-4EFB-B33B-72B582804CA8}" sibTransId="{89BE5AD1-77EC-4FCE-9162-29D5E725B20E}"/>
    <dgm:cxn modelId="{6B98CE67-46FE-46E9-8369-0BAE0491F613}" type="presOf" srcId="{DC098E59-4783-4C75-AA68-97FB539F2D3B}" destId="{B44AB665-26CC-44EC-A791-CD5EEC5676EA}" srcOrd="0" destOrd="0" presId="urn:microsoft.com/office/officeart/2005/8/layout/lProcess3"/>
    <dgm:cxn modelId="{ED61DD4D-6AF3-40A7-9070-32B4A31BF89B}" srcId="{3316D55E-09BC-4F0B-AB8E-B96F9CF8EC14}" destId="{B43A9EC3-74B9-41F1-A4C2-7D315548EDE1}" srcOrd="0" destOrd="0" parTransId="{6A172277-0D00-4DE7-831D-F93588E4552F}" sibTransId="{55950411-084A-4423-9092-B92D60BE2463}"/>
    <dgm:cxn modelId="{FF51934F-B11E-49AE-A55E-D4307FEA78CF}" type="presOf" srcId="{023FFA26-DC8B-4539-9F1D-4EA3BE3746EE}" destId="{B9B0A003-0886-4EFF-862C-5C263B6C6951}" srcOrd="0" destOrd="0" presId="urn:microsoft.com/office/officeart/2005/8/layout/lProcess3"/>
    <dgm:cxn modelId="{867E966F-125F-4978-B4EF-9B42061A82DD}" srcId="{49D794EC-5002-4FB5-A38E-DCE16F993B85}" destId="{93E80408-5BF2-4993-8595-65C5571E9912}" srcOrd="0" destOrd="0" parTransId="{8820EAAB-6238-41A1-9B1E-1F1D0044D988}" sibTransId="{04A1DBF4-C6A6-4FB6-8521-368BB4FAEBD2}"/>
    <dgm:cxn modelId="{E29F3452-644B-43FD-9244-C76182F83CA2}" type="presOf" srcId="{1EA2C1DB-2997-487D-99B2-82DCE417B47B}" destId="{1760288A-FE65-4550-BF2B-2C7E70A95C1F}" srcOrd="0" destOrd="0" presId="urn:microsoft.com/office/officeart/2005/8/layout/lProcess3"/>
    <dgm:cxn modelId="{452C4878-69FA-446F-AB3F-F29BEA80E238}" type="presOf" srcId="{0720EE6F-D779-47DB-A9E7-208ECDA0B862}" destId="{C95B06D2-01D8-4E40-BD84-B217BCDA79C0}" srcOrd="0" destOrd="0" presId="urn:microsoft.com/office/officeart/2005/8/layout/lProcess3"/>
    <dgm:cxn modelId="{7C8BE978-62D7-4942-A303-198F82FEB083}" type="presOf" srcId="{D58D0517-4881-4DB8-BE2C-7B21928A3610}" destId="{DD3051E5-4029-4BF6-BC8F-2111A0A04183}" srcOrd="0" destOrd="0" presId="urn:microsoft.com/office/officeart/2005/8/layout/lProcess3"/>
    <dgm:cxn modelId="{09A3167B-3F13-4A08-BDD0-B4462EB8FC61}" srcId="{0720EE6F-D779-47DB-A9E7-208ECDA0B862}" destId="{3316D55E-09BC-4F0B-AB8E-B96F9CF8EC14}" srcOrd="0" destOrd="0" parTransId="{FFE6DA5A-A50C-4F82-BC69-2DED4F1BD0E4}" sibTransId="{AF3F7FC8-4313-4623-B73A-BBD4C9CBF6A1}"/>
    <dgm:cxn modelId="{6701C77E-7896-45AB-9589-669708982345}" srcId="{3B3D2ECB-4EDC-4710-9B43-217A14FC510C}" destId="{3493637D-5331-430A-8DFA-B65321394802}" srcOrd="2" destOrd="0" parTransId="{2F4994D3-3578-472C-8BBB-D89E43727AC3}" sibTransId="{F40AC981-FC5D-401A-BB44-6EA33FB38876}"/>
    <dgm:cxn modelId="{3E16F77E-4842-4AE9-B1A9-CA2C0C0B8675}" type="presOf" srcId="{A3EDE5D7-116A-465D-AB1E-46D775665904}" destId="{254E2413-6F87-422A-818A-A37403EE0476}" srcOrd="0" destOrd="0" presId="urn:microsoft.com/office/officeart/2005/8/layout/lProcess3"/>
    <dgm:cxn modelId="{1FBB5382-90B0-414C-A0C5-56FB0606F1E6}" srcId="{0720EE6F-D779-47DB-A9E7-208ECDA0B862}" destId="{3B3D2ECB-4EDC-4710-9B43-217A14FC510C}" srcOrd="3" destOrd="0" parTransId="{9678B647-D79A-44A3-B15A-5CAF0EB1F1DF}" sibTransId="{E5EB65D8-641D-4B42-A17F-7D27CE9ABE92}"/>
    <dgm:cxn modelId="{F01E0083-203E-42A0-AA66-5EF5062D4DBA}" type="presOf" srcId="{3B3D2ECB-4EDC-4710-9B43-217A14FC510C}" destId="{F755C796-CA68-4FF6-82A6-DA7462DA6FA6}" srcOrd="0" destOrd="0" presId="urn:microsoft.com/office/officeart/2005/8/layout/lProcess3"/>
    <dgm:cxn modelId="{1070D48B-9E36-4526-9DCD-A47DDF5FB3DB}" type="presOf" srcId="{49D794EC-5002-4FB5-A38E-DCE16F993B85}" destId="{351135ED-679F-4815-9C63-B5328C4EA237}" srcOrd="0" destOrd="0" presId="urn:microsoft.com/office/officeart/2005/8/layout/lProcess3"/>
    <dgm:cxn modelId="{22F3A48E-D1D0-43F0-ACE1-0743D2351DD8}" type="presOf" srcId="{3493637D-5331-430A-8DFA-B65321394802}" destId="{5854FF17-0A23-411A-BEFB-AF3F5413C770}" srcOrd="0" destOrd="0" presId="urn:microsoft.com/office/officeart/2005/8/layout/lProcess3"/>
    <dgm:cxn modelId="{C3C26F91-4ECA-41AE-9A1A-508737EAEDB2}" type="presOf" srcId="{5A660EF1-4AD0-4A56-85C9-585C5A14C5D6}" destId="{4841D186-6276-4472-B315-DE8382CFDDE5}" srcOrd="0" destOrd="0" presId="urn:microsoft.com/office/officeart/2005/8/layout/lProcess3"/>
    <dgm:cxn modelId="{79DE139A-837B-4C6F-9FF0-58B03F81944B}" type="presOf" srcId="{B43A9EC3-74B9-41F1-A4C2-7D315548EDE1}" destId="{0472DB1A-3C5F-4A57-8430-63E72D60CADF}" srcOrd="0" destOrd="0" presId="urn:microsoft.com/office/officeart/2005/8/layout/lProcess3"/>
    <dgm:cxn modelId="{2D803DA5-E46A-4AB3-B9D1-0E8927CCB993}" srcId="{70768287-6D3F-4B2E-B264-E6996419DBCA}" destId="{B4EA4ADA-C10C-4F9B-8404-999B5E7962DC}" srcOrd="1" destOrd="0" parTransId="{EE833488-30EA-4169-8FB5-FB657A4AEE3B}" sibTransId="{9BF71B17-4DF9-4E4A-974D-1A5C6CFD3ECF}"/>
    <dgm:cxn modelId="{B42FF9C4-5277-4E45-A362-35F8020106B4}" type="presOf" srcId="{327D58CC-7746-4C98-9B8E-D119CAD700D5}" destId="{E508C6E5-EFA8-4F76-A562-6E6605CBB373}" srcOrd="0" destOrd="0" presId="urn:microsoft.com/office/officeart/2005/8/layout/lProcess3"/>
    <dgm:cxn modelId="{39A9F4CF-8891-4BFC-A33D-C5F454AEEDD2}" srcId="{3B3D2ECB-4EDC-4710-9B43-217A14FC510C}" destId="{1EA2C1DB-2997-487D-99B2-82DCE417B47B}" srcOrd="0" destOrd="0" parTransId="{F5088171-DAC4-4B1E-B562-E9C88165A97A}" sibTransId="{359D1661-6D06-4609-AE40-71DBA8F1049D}"/>
    <dgm:cxn modelId="{D3D52BDA-372E-4D48-807D-4F2A9B79DA01}" type="presOf" srcId="{B4EA4ADA-C10C-4F9B-8404-999B5E7962DC}" destId="{8036080A-2C10-4CEC-B6E1-45FCDD401990}" srcOrd="0" destOrd="0" presId="urn:microsoft.com/office/officeart/2005/8/layout/lProcess3"/>
    <dgm:cxn modelId="{743450E9-D36A-4CE7-84E4-3E50483A116E}" type="presOf" srcId="{70768287-6D3F-4B2E-B264-E6996419DBCA}" destId="{7DB608EC-0FA1-4AF8-821C-33F5DF71F656}" srcOrd="0" destOrd="0" presId="urn:microsoft.com/office/officeart/2005/8/layout/lProcess3"/>
    <dgm:cxn modelId="{8E5329EA-6744-46D5-987C-17D7520FC35A}" type="presOf" srcId="{D6FB1300-0C42-42E2-9AAD-51AF73592078}" destId="{F7E1374C-2E99-427C-AEF2-AD048F034D0A}" srcOrd="0" destOrd="0" presId="urn:microsoft.com/office/officeart/2005/8/layout/lProcess3"/>
    <dgm:cxn modelId="{CAFAF2F0-C74D-4EE8-8153-EE3AAA6ED731}" srcId="{70768287-6D3F-4B2E-B264-E6996419DBCA}" destId="{5A660EF1-4AD0-4A56-85C9-585C5A14C5D6}" srcOrd="0" destOrd="0" parTransId="{86D8FF29-13B4-4BD2-B9E2-E3578B885A60}" sibTransId="{241BE93D-1FFA-4D96-B0A2-909EC5A3E122}"/>
    <dgm:cxn modelId="{E4BB59F3-3DAC-4CF1-B994-5E311E3F48A5}" srcId="{3B3D2ECB-4EDC-4710-9B43-217A14FC510C}" destId="{A3EDE5D7-116A-465D-AB1E-46D775665904}" srcOrd="1" destOrd="0" parTransId="{52AB0A40-3089-44B3-BDB1-4A1B4AD1B97C}" sibTransId="{98E41651-D08D-443F-BFE2-E24B9498C71C}"/>
    <dgm:cxn modelId="{834525AD-AB7C-4082-A68A-EC2AF2D060A1}" type="presParOf" srcId="{C95B06D2-01D8-4E40-BD84-B217BCDA79C0}" destId="{0521FB97-98C6-4B8F-8FBD-92A76A6E134C}" srcOrd="0" destOrd="0" presId="urn:microsoft.com/office/officeart/2005/8/layout/lProcess3"/>
    <dgm:cxn modelId="{9B6BCA47-5C2E-490A-BB2C-C12DEC634739}" type="presParOf" srcId="{0521FB97-98C6-4B8F-8FBD-92A76A6E134C}" destId="{85DAF251-5FF5-4738-9E90-AEEB5FD56565}" srcOrd="0" destOrd="0" presId="urn:microsoft.com/office/officeart/2005/8/layout/lProcess3"/>
    <dgm:cxn modelId="{F4CD6ADA-E91D-424E-8D29-1A5BAEBE2929}" type="presParOf" srcId="{0521FB97-98C6-4B8F-8FBD-92A76A6E134C}" destId="{FB2F8984-1F86-4C59-A530-A1A41384C8B9}" srcOrd="1" destOrd="0" presId="urn:microsoft.com/office/officeart/2005/8/layout/lProcess3"/>
    <dgm:cxn modelId="{BEA60E91-2841-4564-87C9-AE6FF436F502}" type="presParOf" srcId="{0521FB97-98C6-4B8F-8FBD-92A76A6E134C}" destId="{0472DB1A-3C5F-4A57-8430-63E72D60CADF}" srcOrd="2" destOrd="0" presId="urn:microsoft.com/office/officeart/2005/8/layout/lProcess3"/>
    <dgm:cxn modelId="{7519709D-50F2-4DCA-849B-E3503FA5B82E}" type="presParOf" srcId="{0521FB97-98C6-4B8F-8FBD-92A76A6E134C}" destId="{1D60D167-7CED-4D24-A264-C992E7CDFE6E}" srcOrd="3" destOrd="0" presId="urn:microsoft.com/office/officeart/2005/8/layout/lProcess3"/>
    <dgm:cxn modelId="{43C71B9F-8BC5-4F25-831C-5F4C6E0E722E}" type="presParOf" srcId="{0521FB97-98C6-4B8F-8FBD-92A76A6E134C}" destId="{F7E1374C-2E99-427C-AEF2-AD048F034D0A}" srcOrd="4" destOrd="0" presId="urn:microsoft.com/office/officeart/2005/8/layout/lProcess3"/>
    <dgm:cxn modelId="{915DA161-41BE-43A2-B977-668EBC97E9D8}" type="presParOf" srcId="{C95B06D2-01D8-4E40-BD84-B217BCDA79C0}" destId="{E25A8772-0C28-423A-A6DF-4647753EC986}" srcOrd="1" destOrd="0" presId="urn:microsoft.com/office/officeart/2005/8/layout/lProcess3"/>
    <dgm:cxn modelId="{1BD5A2E8-D7C8-4755-9AC6-9961F9CE423E}" type="presParOf" srcId="{C95B06D2-01D8-4E40-BD84-B217BCDA79C0}" destId="{1DBCB8F8-2ADA-4241-BB79-9004A0730A0A}" srcOrd="2" destOrd="0" presId="urn:microsoft.com/office/officeart/2005/8/layout/lProcess3"/>
    <dgm:cxn modelId="{B7AFB3D1-49B8-42C2-865C-04234F9E8567}" type="presParOf" srcId="{1DBCB8F8-2ADA-4241-BB79-9004A0730A0A}" destId="{351135ED-679F-4815-9C63-B5328C4EA237}" srcOrd="0" destOrd="0" presId="urn:microsoft.com/office/officeart/2005/8/layout/lProcess3"/>
    <dgm:cxn modelId="{DBCF7AD4-1CBF-44D1-87DA-A754FB19D52A}" type="presParOf" srcId="{1DBCB8F8-2ADA-4241-BB79-9004A0730A0A}" destId="{EF2DB82D-353F-4219-AA52-4BD76484EE78}" srcOrd="1" destOrd="0" presId="urn:microsoft.com/office/officeart/2005/8/layout/lProcess3"/>
    <dgm:cxn modelId="{68B51F83-B124-40F6-AFAC-8368ECA2281B}" type="presParOf" srcId="{1DBCB8F8-2ADA-4241-BB79-9004A0730A0A}" destId="{19A4E476-7973-4F07-95D6-284C41DF0079}" srcOrd="2" destOrd="0" presId="urn:microsoft.com/office/officeart/2005/8/layout/lProcess3"/>
    <dgm:cxn modelId="{A63D4ED1-720B-49D5-BCD5-2316DA1F7ADB}" type="presParOf" srcId="{1DBCB8F8-2ADA-4241-BB79-9004A0730A0A}" destId="{0F04E0B2-1565-4580-873B-682B11CAD521}" srcOrd="3" destOrd="0" presId="urn:microsoft.com/office/officeart/2005/8/layout/lProcess3"/>
    <dgm:cxn modelId="{D1B80300-8117-45B9-A8A9-279A116AC329}" type="presParOf" srcId="{1DBCB8F8-2ADA-4241-BB79-9004A0730A0A}" destId="{DD3051E5-4029-4BF6-BC8F-2111A0A04183}" srcOrd="4" destOrd="0" presId="urn:microsoft.com/office/officeart/2005/8/layout/lProcess3"/>
    <dgm:cxn modelId="{03DA6DDA-9488-41D6-9262-A759E62F145C}" type="presParOf" srcId="{C95B06D2-01D8-4E40-BD84-B217BCDA79C0}" destId="{2821E779-4060-43B3-968D-DCA8DDD12038}" srcOrd="3" destOrd="0" presId="urn:microsoft.com/office/officeart/2005/8/layout/lProcess3"/>
    <dgm:cxn modelId="{D403E189-E98E-4D63-BCC5-8A62312D5BD0}" type="presParOf" srcId="{C95B06D2-01D8-4E40-BD84-B217BCDA79C0}" destId="{4EB94491-F5CF-4465-808B-15793533F57E}" srcOrd="4" destOrd="0" presId="urn:microsoft.com/office/officeart/2005/8/layout/lProcess3"/>
    <dgm:cxn modelId="{D1FD1026-5B28-4B7B-A0D8-34AA28438CE8}" type="presParOf" srcId="{4EB94491-F5CF-4465-808B-15793533F57E}" destId="{7DB608EC-0FA1-4AF8-821C-33F5DF71F656}" srcOrd="0" destOrd="0" presId="urn:microsoft.com/office/officeart/2005/8/layout/lProcess3"/>
    <dgm:cxn modelId="{C901D73B-B777-4ED7-9E1A-82F40975336E}" type="presParOf" srcId="{4EB94491-F5CF-4465-808B-15793533F57E}" destId="{B6D8CDB8-48AA-4472-9C23-E9C8B4AE2BAD}" srcOrd="1" destOrd="0" presId="urn:microsoft.com/office/officeart/2005/8/layout/lProcess3"/>
    <dgm:cxn modelId="{9A7177D8-D6BD-462A-8C52-34F993E86B5D}" type="presParOf" srcId="{4EB94491-F5CF-4465-808B-15793533F57E}" destId="{4841D186-6276-4472-B315-DE8382CFDDE5}" srcOrd="2" destOrd="0" presId="urn:microsoft.com/office/officeart/2005/8/layout/lProcess3"/>
    <dgm:cxn modelId="{9AF9A36C-A1D5-4F76-9884-99FD874C108B}" type="presParOf" srcId="{4EB94491-F5CF-4465-808B-15793533F57E}" destId="{BE06A099-EEE7-4A68-9398-783B4CEFC463}" srcOrd="3" destOrd="0" presId="urn:microsoft.com/office/officeart/2005/8/layout/lProcess3"/>
    <dgm:cxn modelId="{3CBBD5E9-4E8F-4089-BF8A-0884A7FD2DD0}" type="presParOf" srcId="{4EB94491-F5CF-4465-808B-15793533F57E}" destId="{8036080A-2C10-4CEC-B6E1-45FCDD401990}" srcOrd="4" destOrd="0" presId="urn:microsoft.com/office/officeart/2005/8/layout/lProcess3"/>
    <dgm:cxn modelId="{B2532415-BA50-46BA-B3F9-8F7D68687D13}" type="presParOf" srcId="{C95B06D2-01D8-4E40-BD84-B217BCDA79C0}" destId="{8BB606D6-535C-4422-87A9-07CF2EE3D2FD}" srcOrd="5" destOrd="0" presId="urn:microsoft.com/office/officeart/2005/8/layout/lProcess3"/>
    <dgm:cxn modelId="{BA7C758B-9383-4E12-8061-BC2F5866452C}" type="presParOf" srcId="{C95B06D2-01D8-4E40-BD84-B217BCDA79C0}" destId="{99244476-626C-4E61-97A0-86DD7F62514B}" srcOrd="6" destOrd="0" presId="urn:microsoft.com/office/officeart/2005/8/layout/lProcess3"/>
    <dgm:cxn modelId="{18D3D7BD-E233-4983-AFBA-6516DA0E924C}" type="presParOf" srcId="{99244476-626C-4E61-97A0-86DD7F62514B}" destId="{F755C796-CA68-4FF6-82A6-DA7462DA6FA6}" srcOrd="0" destOrd="0" presId="urn:microsoft.com/office/officeart/2005/8/layout/lProcess3"/>
    <dgm:cxn modelId="{91EED2C5-E680-4A3B-A9C0-82D3B5D64DA8}" type="presParOf" srcId="{99244476-626C-4E61-97A0-86DD7F62514B}" destId="{435504A6-6A60-47BB-B788-B5FCC92580D5}" srcOrd="1" destOrd="0" presId="urn:microsoft.com/office/officeart/2005/8/layout/lProcess3"/>
    <dgm:cxn modelId="{66E64BC1-0040-4A2D-83DE-A7DFF487A614}" type="presParOf" srcId="{99244476-626C-4E61-97A0-86DD7F62514B}" destId="{1760288A-FE65-4550-BF2B-2C7E70A95C1F}" srcOrd="2" destOrd="0" presId="urn:microsoft.com/office/officeart/2005/8/layout/lProcess3"/>
    <dgm:cxn modelId="{E7AFBCBF-086F-4917-93F6-CE71B54B7C99}" type="presParOf" srcId="{99244476-626C-4E61-97A0-86DD7F62514B}" destId="{01590750-5662-47F8-BF6F-63DDA66BA986}" srcOrd="3" destOrd="0" presId="urn:microsoft.com/office/officeart/2005/8/layout/lProcess3"/>
    <dgm:cxn modelId="{F1C59BF2-E981-40AA-A654-AF7CE8530CCC}" type="presParOf" srcId="{99244476-626C-4E61-97A0-86DD7F62514B}" destId="{254E2413-6F87-422A-818A-A37403EE0476}" srcOrd="4" destOrd="0" presId="urn:microsoft.com/office/officeart/2005/8/layout/lProcess3"/>
    <dgm:cxn modelId="{8AA04D8F-A327-4962-A666-6378A8A6F903}" type="presParOf" srcId="{99244476-626C-4E61-97A0-86DD7F62514B}" destId="{BE980D58-2831-4B11-A744-1938F28FC2EC}" srcOrd="5" destOrd="0" presId="urn:microsoft.com/office/officeart/2005/8/layout/lProcess3"/>
    <dgm:cxn modelId="{9885EF63-26CA-4B79-9FFD-F9CE113736FC}" type="presParOf" srcId="{99244476-626C-4E61-97A0-86DD7F62514B}" destId="{5854FF17-0A23-411A-BEFB-AF3F5413C770}" srcOrd="6" destOrd="0" presId="urn:microsoft.com/office/officeart/2005/8/layout/lProcess3"/>
    <dgm:cxn modelId="{5ECDD00F-FDD5-4B23-9D50-36F84C8E2CF8}" type="presParOf" srcId="{C95B06D2-01D8-4E40-BD84-B217BCDA79C0}" destId="{DE823F67-0379-460D-B1DA-A2AF63CF0B4C}" srcOrd="7" destOrd="0" presId="urn:microsoft.com/office/officeart/2005/8/layout/lProcess3"/>
    <dgm:cxn modelId="{56C002A8-088D-418F-8AC2-85B93700ECF5}" type="presParOf" srcId="{C95B06D2-01D8-4E40-BD84-B217BCDA79C0}" destId="{A63BACC6-3453-4AB5-B77F-39989CA86137}" srcOrd="8" destOrd="0" presId="urn:microsoft.com/office/officeart/2005/8/layout/lProcess3"/>
    <dgm:cxn modelId="{7EFE0E85-222D-4D2D-8582-0D7D8106EFC5}" type="presParOf" srcId="{A63BACC6-3453-4AB5-B77F-39989CA86137}" destId="{E508C6E5-EFA8-4F76-A562-6E6605CBB373}" srcOrd="0" destOrd="0" presId="urn:microsoft.com/office/officeart/2005/8/layout/lProcess3"/>
    <dgm:cxn modelId="{209A9643-E5A3-436A-908D-7217DA2869A8}" type="presParOf" srcId="{A63BACC6-3453-4AB5-B77F-39989CA86137}" destId="{958F5A4E-C894-44D6-BB64-EE158B983624}" srcOrd="1" destOrd="0" presId="urn:microsoft.com/office/officeart/2005/8/layout/lProcess3"/>
    <dgm:cxn modelId="{07D21CB3-12C0-4A83-911C-04AC2B8A4DF5}" type="presParOf" srcId="{A63BACC6-3453-4AB5-B77F-39989CA86137}" destId="{B9B0A003-0886-4EFF-862C-5C263B6C6951}" srcOrd="2" destOrd="0" presId="urn:microsoft.com/office/officeart/2005/8/layout/lProcess3"/>
    <dgm:cxn modelId="{85229611-B917-49F2-AC62-363EF3AAAE66}" type="presParOf" srcId="{A63BACC6-3453-4AB5-B77F-39989CA86137}" destId="{342229BC-40C5-4EF2-AF7A-8E5D02AA9716}" srcOrd="3" destOrd="0" presId="urn:microsoft.com/office/officeart/2005/8/layout/lProcess3"/>
    <dgm:cxn modelId="{F2F233ED-53FF-4657-8518-E32A0CA85F8F}" type="presParOf" srcId="{A63BACC6-3453-4AB5-B77F-39989CA86137}" destId="{B44AB665-26CC-44EC-A791-CD5EEC5676EA}" srcOrd="4" destOrd="0" presId="urn:microsoft.com/office/officeart/2005/8/layout/lProcess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5DAF251-5FF5-4738-9E90-AEEB5FD56565}">
      <dsp:nvSpPr>
        <dsp:cNvPr id="0" name=""/>
        <dsp:cNvSpPr/>
      </dsp:nvSpPr>
      <dsp:spPr>
        <a:xfrm>
          <a:off x="767752" y="634"/>
          <a:ext cx="2436541" cy="974616"/>
        </a:xfrm>
        <a:prstGeom prst="chevron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590" tIns="10795" rIns="0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700" kern="1200" dirty="0"/>
            <a:t>Avertissement ou blâme sans saisine de la CSP</a:t>
          </a:r>
        </a:p>
      </dsp:txBody>
      <dsp:txXfrm>
        <a:off x="1255060" y="634"/>
        <a:ext cx="1461925" cy="974616"/>
      </dsp:txXfrm>
    </dsp:sp>
    <dsp:sp modelId="{0472DB1A-3C5F-4A57-8430-63E72D60CADF}">
      <dsp:nvSpPr>
        <dsp:cNvPr id="0" name=""/>
        <dsp:cNvSpPr/>
      </dsp:nvSpPr>
      <dsp:spPr>
        <a:xfrm>
          <a:off x="2887543" y="83476"/>
          <a:ext cx="2022329" cy="808931"/>
        </a:xfrm>
        <a:prstGeom prst="chevron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9210" tIns="14605" rIns="0" bIns="1460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300" kern="1200" dirty="0"/>
            <a:t>Recours en CSP</a:t>
          </a:r>
        </a:p>
      </dsp:txBody>
      <dsp:txXfrm>
        <a:off x="3292009" y="83476"/>
        <a:ext cx="1213398" cy="808931"/>
      </dsp:txXfrm>
    </dsp:sp>
    <dsp:sp modelId="{F7E1374C-2E99-427C-AEF2-AD048F034D0A}">
      <dsp:nvSpPr>
        <dsp:cNvPr id="0" name=""/>
        <dsp:cNvSpPr/>
      </dsp:nvSpPr>
      <dsp:spPr>
        <a:xfrm>
          <a:off x="4626746" y="83476"/>
          <a:ext cx="2022329" cy="808931"/>
        </a:xfrm>
        <a:prstGeom prst="chevron">
          <a:avLst/>
        </a:prstGeom>
        <a:solidFill>
          <a:schemeClr val="accent2">
            <a:tint val="40000"/>
            <a:alpha val="90000"/>
            <a:hueOff val="517057"/>
            <a:satOff val="5251"/>
            <a:lumOff val="799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517057"/>
              <a:satOff val="5251"/>
              <a:lumOff val="79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9210" tIns="14605" rIns="0" bIns="1460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300" kern="1200" dirty="0"/>
            <a:t>Recours gracieux </a:t>
          </a:r>
        </a:p>
      </dsp:txBody>
      <dsp:txXfrm>
        <a:off x="5031212" y="83476"/>
        <a:ext cx="1213398" cy="808931"/>
      </dsp:txXfrm>
    </dsp:sp>
    <dsp:sp modelId="{351135ED-679F-4815-9C63-B5328C4EA237}">
      <dsp:nvSpPr>
        <dsp:cNvPr id="0" name=""/>
        <dsp:cNvSpPr/>
      </dsp:nvSpPr>
      <dsp:spPr>
        <a:xfrm>
          <a:off x="767752" y="1111697"/>
          <a:ext cx="2436541" cy="974616"/>
        </a:xfrm>
        <a:prstGeom prst="chevron">
          <a:avLst/>
        </a:prstGeom>
        <a:solidFill>
          <a:schemeClr val="accent2">
            <a:hueOff val="1327644"/>
            <a:satOff val="8554"/>
            <a:lumOff val="823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590" tIns="10795" rIns="0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700" kern="1200" dirty="0"/>
            <a:t>Avertissement ou blâme avec saisine de la CSP</a:t>
          </a:r>
        </a:p>
      </dsp:txBody>
      <dsp:txXfrm>
        <a:off x="1255060" y="1111697"/>
        <a:ext cx="1461925" cy="974616"/>
      </dsp:txXfrm>
    </dsp:sp>
    <dsp:sp modelId="{19A4E476-7973-4F07-95D6-284C41DF0079}">
      <dsp:nvSpPr>
        <dsp:cNvPr id="0" name=""/>
        <dsp:cNvSpPr/>
      </dsp:nvSpPr>
      <dsp:spPr>
        <a:xfrm>
          <a:off x="2887543" y="1194539"/>
          <a:ext cx="2772472" cy="808931"/>
        </a:xfrm>
        <a:prstGeom prst="chevron">
          <a:avLst/>
        </a:prstGeom>
        <a:solidFill>
          <a:schemeClr val="accent2">
            <a:tint val="40000"/>
            <a:alpha val="90000"/>
            <a:hueOff val="1034114"/>
            <a:satOff val="10501"/>
            <a:lumOff val="1598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1034114"/>
              <a:satOff val="10501"/>
              <a:lumOff val="159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9210" tIns="14605" rIns="0" bIns="1460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300" kern="1200" dirty="0"/>
            <a:t>Recours en CSP </a:t>
          </a:r>
          <a:r>
            <a:rPr lang="fr-FR" sz="2300" b="1" kern="1200" dirty="0">
              <a:solidFill>
                <a:schemeClr val="accent4"/>
              </a:solidFill>
            </a:rPr>
            <a:t>OU</a:t>
          </a:r>
          <a:r>
            <a:rPr lang="fr-FR" sz="2300" kern="1200" dirty="0"/>
            <a:t> en CSNP</a:t>
          </a:r>
        </a:p>
      </dsp:txBody>
      <dsp:txXfrm>
        <a:off x="3292009" y="1194539"/>
        <a:ext cx="1963541" cy="808931"/>
      </dsp:txXfrm>
    </dsp:sp>
    <dsp:sp modelId="{DD3051E5-4029-4BF6-BC8F-2111A0A04183}">
      <dsp:nvSpPr>
        <dsp:cNvPr id="0" name=""/>
        <dsp:cNvSpPr/>
      </dsp:nvSpPr>
      <dsp:spPr>
        <a:xfrm>
          <a:off x="5376889" y="1194539"/>
          <a:ext cx="2022329" cy="808931"/>
        </a:xfrm>
        <a:prstGeom prst="chevron">
          <a:avLst/>
        </a:prstGeom>
        <a:solidFill>
          <a:schemeClr val="accent2">
            <a:tint val="40000"/>
            <a:alpha val="90000"/>
            <a:hueOff val="1551171"/>
            <a:satOff val="15752"/>
            <a:lumOff val="2397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1551171"/>
              <a:satOff val="15752"/>
              <a:lumOff val="239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9210" tIns="14605" rIns="0" bIns="1460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300" kern="1200" dirty="0"/>
            <a:t>Recours gracieux</a:t>
          </a:r>
        </a:p>
      </dsp:txBody>
      <dsp:txXfrm>
        <a:off x="5781355" y="1194539"/>
        <a:ext cx="1213398" cy="808931"/>
      </dsp:txXfrm>
    </dsp:sp>
    <dsp:sp modelId="{7DB608EC-0FA1-4AF8-821C-33F5DF71F656}">
      <dsp:nvSpPr>
        <dsp:cNvPr id="0" name=""/>
        <dsp:cNvSpPr/>
      </dsp:nvSpPr>
      <dsp:spPr>
        <a:xfrm>
          <a:off x="767752" y="2222760"/>
          <a:ext cx="2436541" cy="974616"/>
        </a:xfrm>
        <a:prstGeom prst="chevron">
          <a:avLst/>
        </a:prstGeom>
        <a:solidFill>
          <a:schemeClr val="accent2">
            <a:hueOff val="2655288"/>
            <a:satOff val="17108"/>
            <a:lumOff val="1647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590" tIns="10795" rIns="0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700" kern="1200" dirty="0"/>
            <a:t>Rétrogradation de GF</a:t>
          </a:r>
        </a:p>
      </dsp:txBody>
      <dsp:txXfrm>
        <a:off x="1255060" y="2222760"/>
        <a:ext cx="1461925" cy="974616"/>
      </dsp:txXfrm>
    </dsp:sp>
    <dsp:sp modelId="{4841D186-6276-4472-B315-DE8382CFDDE5}">
      <dsp:nvSpPr>
        <dsp:cNvPr id="0" name=""/>
        <dsp:cNvSpPr/>
      </dsp:nvSpPr>
      <dsp:spPr>
        <a:xfrm>
          <a:off x="2887543" y="2305602"/>
          <a:ext cx="2772472" cy="808931"/>
        </a:xfrm>
        <a:prstGeom prst="chevron">
          <a:avLst/>
        </a:prstGeom>
        <a:solidFill>
          <a:schemeClr val="accent2">
            <a:tint val="40000"/>
            <a:alpha val="90000"/>
            <a:hueOff val="2068228"/>
            <a:satOff val="21002"/>
            <a:lumOff val="3196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2068228"/>
              <a:satOff val="21002"/>
              <a:lumOff val="3196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9210" tIns="14605" rIns="0" bIns="1460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300" kern="1200" dirty="0"/>
            <a:t>Recours en CSP </a:t>
          </a:r>
          <a:r>
            <a:rPr lang="fr-FR" sz="2300" b="1" kern="1200" dirty="0">
              <a:solidFill>
                <a:schemeClr val="accent4"/>
              </a:solidFill>
            </a:rPr>
            <a:t>OU</a:t>
          </a:r>
          <a:r>
            <a:rPr lang="fr-FR" sz="2300" kern="1200" dirty="0"/>
            <a:t> en CSNP</a:t>
          </a:r>
        </a:p>
      </dsp:txBody>
      <dsp:txXfrm>
        <a:off x="3292009" y="2305602"/>
        <a:ext cx="1963541" cy="808931"/>
      </dsp:txXfrm>
    </dsp:sp>
    <dsp:sp modelId="{8036080A-2C10-4CEC-B6E1-45FCDD401990}">
      <dsp:nvSpPr>
        <dsp:cNvPr id="0" name=""/>
        <dsp:cNvSpPr/>
      </dsp:nvSpPr>
      <dsp:spPr>
        <a:xfrm>
          <a:off x="5376889" y="2305602"/>
          <a:ext cx="2022329" cy="808931"/>
        </a:xfrm>
        <a:prstGeom prst="chevron">
          <a:avLst/>
        </a:prstGeom>
        <a:solidFill>
          <a:schemeClr val="accent2">
            <a:tint val="40000"/>
            <a:alpha val="90000"/>
            <a:hueOff val="2585284"/>
            <a:satOff val="26253"/>
            <a:lumOff val="3995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2585284"/>
              <a:satOff val="26253"/>
              <a:lumOff val="399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9210" tIns="14605" rIns="0" bIns="1460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300" kern="1200" dirty="0"/>
            <a:t>Recours gracieux</a:t>
          </a:r>
        </a:p>
      </dsp:txBody>
      <dsp:txXfrm>
        <a:off x="5781355" y="2305602"/>
        <a:ext cx="1213398" cy="808931"/>
      </dsp:txXfrm>
    </dsp:sp>
    <dsp:sp modelId="{F755C796-CA68-4FF6-82A6-DA7462DA6FA6}">
      <dsp:nvSpPr>
        <dsp:cNvPr id="0" name=""/>
        <dsp:cNvSpPr/>
      </dsp:nvSpPr>
      <dsp:spPr>
        <a:xfrm>
          <a:off x="767752" y="3324741"/>
          <a:ext cx="2436541" cy="1007880"/>
        </a:xfrm>
        <a:prstGeom prst="chevron">
          <a:avLst/>
        </a:prstGeom>
        <a:solidFill>
          <a:schemeClr val="accent2">
            <a:hueOff val="3982933"/>
            <a:satOff val="25662"/>
            <a:lumOff val="2470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10160" rIns="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600" kern="1200" dirty="0"/>
            <a:t>Mise à la retraite d’office  </a:t>
          </a:r>
          <a:br>
            <a:rPr lang="fr-FR" sz="1600" kern="1200" dirty="0"/>
          </a:br>
          <a:r>
            <a:rPr lang="fr-FR" sz="1600" kern="1200" dirty="0"/>
            <a:t>(</a:t>
          </a:r>
          <a:r>
            <a:rPr lang="fr-FR" sz="1600" b="1" kern="1200" dirty="0"/>
            <a:t>1</a:t>
          </a:r>
          <a:r>
            <a:rPr lang="fr-FR" sz="1600" b="1" kern="1200" baseline="30000" dirty="0"/>
            <a:t>ère</a:t>
          </a:r>
          <a:r>
            <a:rPr lang="fr-FR" sz="1600" b="1" kern="1200" dirty="0"/>
            <a:t> possibilité</a:t>
          </a:r>
          <a:r>
            <a:rPr lang="fr-FR" sz="1600" kern="1200" dirty="0"/>
            <a:t>)</a:t>
          </a:r>
        </a:p>
      </dsp:txBody>
      <dsp:txXfrm>
        <a:off x="1271692" y="3324741"/>
        <a:ext cx="1428661" cy="1007880"/>
      </dsp:txXfrm>
    </dsp:sp>
    <dsp:sp modelId="{1760288A-FE65-4550-BF2B-2C7E70A95C1F}">
      <dsp:nvSpPr>
        <dsp:cNvPr id="0" name=""/>
        <dsp:cNvSpPr/>
      </dsp:nvSpPr>
      <dsp:spPr>
        <a:xfrm>
          <a:off x="2856569" y="3305984"/>
          <a:ext cx="2022329" cy="979212"/>
        </a:xfrm>
        <a:prstGeom prst="chevron">
          <a:avLst/>
        </a:prstGeom>
        <a:solidFill>
          <a:schemeClr val="accent2">
            <a:tint val="40000"/>
            <a:alpha val="90000"/>
            <a:hueOff val="3102342"/>
            <a:satOff val="31504"/>
            <a:lumOff val="4794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3102342"/>
              <a:satOff val="31504"/>
              <a:lumOff val="4794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9210" tIns="14605" rIns="0" bIns="1460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300" kern="1200" dirty="0"/>
            <a:t>Recours en CSP</a:t>
          </a:r>
        </a:p>
      </dsp:txBody>
      <dsp:txXfrm>
        <a:off x="3346175" y="3305984"/>
        <a:ext cx="1043117" cy="979212"/>
      </dsp:txXfrm>
    </dsp:sp>
    <dsp:sp modelId="{254E2413-6F87-422A-818A-A37403EE0476}">
      <dsp:nvSpPr>
        <dsp:cNvPr id="0" name=""/>
        <dsp:cNvSpPr/>
      </dsp:nvSpPr>
      <dsp:spPr>
        <a:xfrm>
          <a:off x="4541455" y="3343360"/>
          <a:ext cx="2022329" cy="1010105"/>
        </a:xfrm>
        <a:prstGeom prst="chevron">
          <a:avLst/>
        </a:prstGeom>
        <a:solidFill>
          <a:schemeClr val="accent2">
            <a:tint val="40000"/>
            <a:alpha val="90000"/>
            <a:hueOff val="3619398"/>
            <a:satOff val="36754"/>
            <a:lumOff val="5593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3619398"/>
              <a:satOff val="36754"/>
              <a:lumOff val="5593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9210" tIns="14605" rIns="0" bIns="1460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300" kern="1200" dirty="0"/>
            <a:t>Recours en CSNP</a:t>
          </a:r>
        </a:p>
      </dsp:txBody>
      <dsp:txXfrm>
        <a:off x="5046508" y="3343360"/>
        <a:ext cx="1012224" cy="1010105"/>
      </dsp:txXfrm>
    </dsp:sp>
    <dsp:sp modelId="{5854FF17-0A23-411A-BEFB-AF3F5413C770}">
      <dsp:nvSpPr>
        <dsp:cNvPr id="0" name=""/>
        <dsp:cNvSpPr/>
      </dsp:nvSpPr>
      <dsp:spPr>
        <a:xfrm>
          <a:off x="6200134" y="3343870"/>
          <a:ext cx="2022329" cy="965387"/>
        </a:xfrm>
        <a:prstGeom prst="chevron">
          <a:avLst/>
        </a:prstGeom>
        <a:solidFill>
          <a:schemeClr val="accent2">
            <a:tint val="40000"/>
            <a:alpha val="90000"/>
            <a:hueOff val="4136455"/>
            <a:satOff val="42005"/>
            <a:lumOff val="6392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4136455"/>
              <a:satOff val="42005"/>
              <a:lumOff val="639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9210" tIns="14605" rIns="0" bIns="1460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300" kern="1200" dirty="0"/>
            <a:t>Recours gracieux</a:t>
          </a:r>
        </a:p>
      </dsp:txBody>
      <dsp:txXfrm>
        <a:off x="6682828" y="3343870"/>
        <a:ext cx="1056942" cy="965387"/>
      </dsp:txXfrm>
    </dsp:sp>
    <dsp:sp modelId="{E508C6E5-EFA8-4F76-A562-6E6605CBB373}">
      <dsp:nvSpPr>
        <dsp:cNvPr id="0" name=""/>
        <dsp:cNvSpPr/>
      </dsp:nvSpPr>
      <dsp:spPr>
        <a:xfrm>
          <a:off x="738664" y="4481009"/>
          <a:ext cx="2436541" cy="974616"/>
        </a:xfrm>
        <a:prstGeom prst="chevron">
          <a:avLst/>
        </a:prstGeom>
        <a:solidFill>
          <a:srgbClr val="3F54A1">
            <a:hueOff val="3982933"/>
            <a:satOff val="25662"/>
            <a:lumOff val="24706"/>
            <a:alphaOff val="0"/>
          </a:srgbClr>
        </a:solidFill>
        <a:ln w="12700" cap="flat" cmpd="sng" algn="ctr">
          <a:solidFill>
            <a:srgbClr val="FFFFFF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8890" rIns="0" bIns="889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600" kern="1200" dirty="0"/>
            <a:t>Mise à la retraite </a:t>
          </a:r>
          <a:r>
            <a:rPr lang="fr-FR" sz="1600" kern="1200" dirty="0">
              <a:solidFill>
                <a:srgbClr val="FFFFFF"/>
              </a:solidFill>
              <a:latin typeface="Calibri" panose="020F0502020204030204"/>
              <a:ea typeface="+mn-ea"/>
              <a:cs typeface="+mn-cs"/>
            </a:rPr>
            <a:t>d’office</a:t>
          </a:r>
          <a:br>
            <a:rPr lang="fr-FR" sz="1600" kern="1200" dirty="0"/>
          </a:br>
          <a:r>
            <a:rPr lang="fr-FR" sz="1600" kern="1200" dirty="0"/>
            <a:t>(</a:t>
          </a:r>
          <a:r>
            <a:rPr lang="fr-FR" sz="1600" b="1" kern="1200" dirty="0"/>
            <a:t>2</a:t>
          </a:r>
          <a:r>
            <a:rPr lang="fr-FR" sz="1600" b="1" kern="1200" baseline="30000" dirty="0"/>
            <a:t>ème</a:t>
          </a:r>
          <a:r>
            <a:rPr lang="fr-FR" sz="1600" b="1" kern="1200" dirty="0"/>
            <a:t> possibilité) </a:t>
          </a:r>
        </a:p>
      </dsp:txBody>
      <dsp:txXfrm>
        <a:off x="1225972" y="4481009"/>
        <a:ext cx="1461925" cy="974616"/>
      </dsp:txXfrm>
    </dsp:sp>
    <dsp:sp modelId="{B9B0A003-0886-4EFF-862C-5C263B6C6951}">
      <dsp:nvSpPr>
        <dsp:cNvPr id="0" name=""/>
        <dsp:cNvSpPr/>
      </dsp:nvSpPr>
      <dsp:spPr>
        <a:xfrm>
          <a:off x="2887543" y="4510046"/>
          <a:ext cx="2022329" cy="937552"/>
        </a:xfrm>
        <a:prstGeom prst="chevron">
          <a:avLst/>
        </a:prstGeom>
        <a:solidFill>
          <a:srgbClr val="3F54A1">
            <a:tint val="40000"/>
            <a:alpha val="90000"/>
            <a:hueOff val="3102342"/>
            <a:satOff val="31504"/>
            <a:lumOff val="4794"/>
            <a:alphaOff val="0"/>
          </a:srgbClr>
        </a:solidFill>
        <a:ln w="12700" cap="flat" cmpd="sng" algn="ctr">
          <a:solidFill>
            <a:srgbClr val="3F54A1">
              <a:tint val="40000"/>
              <a:alpha val="90000"/>
              <a:hueOff val="3102342"/>
              <a:satOff val="31504"/>
              <a:lumOff val="4794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0" tIns="9525" rIns="0" bIns="952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300" kern="1200" dirty="0"/>
            <a:t>Recours en CSNP</a:t>
          </a:r>
        </a:p>
      </dsp:txBody>
      <dsp:txXfrm>
        <a:off x="3356319" y="4510046"/>
        <a:ext cx="1084777" cy="937552"/>
      </dsp:txXfrm>
    </dsp:sp>
    <dsp:sp modelId="{B44AB665-26CC-44EC-A791-CD5EEC5676EA}">
      <dsp:nvSpPr>
        <dsp:cNvPr id="0" name=""/>
        <dsp:cNvSpPr/>
      </dsp:nvSpPr>
      <dsp:spPr>
        <a:xfrm>
          <a:off x="4626746" y="4541461"/>
          <a:ext cx="2022329" cy="874722"/>
        </a:xfrm>
        <a:prstGeom prst="chevron">
          <a:avLst/>
        </a:prstGeom>
        <a:solidFill>
          <a:srgbClr val="3F54A1">
            <a:tint val="40000"/>
            <a:alpha val="90000"/>
            <a:hueOff val="3619398"/>
            <a:satOff val="36754"/>
            <a:lumOff val="5593"/>
            <a:alphaOff val="0"/>
          </a:srgbClr>
        </a:solidFill>
        <a:ln w="12700" cap="flat" cmpd="sng" algn="ctr">
          <a:solidFill>
            <a:srgbClr val="3F54A1">
              <a:tint val="40000"/>
              <a:alpha val="90000"/>
              <a:hueOff val="3619398"/>
              <a:satOff val="36754"/>
              <a:lumOff val="5593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0" tIns="9525" rIns="0" bIns="952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400" kern="1200" dirty="0">
              <a:solidFill>
                <a:srgbClr val="3F54A1">
                  <a:hueOff val="0"/>
                  <a:satOff val="0"/>
                  <a:lumOff val="0"/>
                  <a:alphaOff val="0"/>
                </a:srgbClr>
              </a:solidFill>
              <a:latin typeface="Calibri" panose="020F0502020204030204"/>
              <a:ea typeface="+mn-ea"/>
              <a:cs typeface="+mn-cs"/>
            </a:rPr>
            <a:t>Recours gracieux </a:t>
          </a:r>
        </a:p>
      </dsp:txBody>
      <dsp:txXfrm>
        <a:off x="5064107" y="4541461"/>
        <a:ext cx="1147607" cy="87472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Process3">
  <dgm:title val=""/>
  <dgm:desc val=""/>
  <dgm:catLst>
    <dgm:cat type="process" pri="11000"/>
    <dgm:cat type="convert" pri="1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1" destId="2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51" srcId="1" destId="11" srcOrd="0" destOrd="0"/>
        <dgm:cxn modelId="61" srcId="2" destId="21" srcOrd="0" destOrd="0"/>
        <dgm:cxn modelId="71" srcId="3" destId="31" srcOrd="0" destOrd="0"/>
        <dgm:cxn modelId="81" srcId="4" destId="41" srcOrd="0" destOrd="0"/>
      </dgm:cxnLst>
      <dgm:bg/>
      <dgm:whole/>
    </dgm:dataModel>
  </dgm:clrData>
  <dgm:layoutNode name="Name0">
    <dgm:varLst>
      <dgm:chPref val="3"/>
      <dgm:dir/>
      <dgm:animLvl val="lvl"/>
      <dgm:resizeHandles/>
    </dgm:varLst>
    <dgm:choose name="Name1">
      <dgm:if name="Name2" func="var" arg="dir" op="equ" val="norm">
        <dgm:alg type="lin">
          <dgm:param type="linDir" val="fromT"/>
          <dgm:param type="vertAlign" val="mid"/>
          <dgm:param type="nodeHorzAlign" val="l"/>
          <dgm:param type="nodeVertAlign" val="t"/>
          <dgm:param type="fallback" val="2D"/>
        </dgm:alg>
      </dgm:if>
      <dgm:else name="Name3">
        <dgm:alg type="lin">
          <dgm:param type="linDir" val="fromT"/>
          <dgm:param type="vertAlign" val="mid"/>
          <dgm:param type="nodeHorzAlign" val="r"/>
          <dgm:param type="nodeVertAlign" val="t"/>
          <dgm:param type="fallback" val="2D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bigChev" refType="w"/>
      <dgm:constr type="h" for="des" forName="bigChev" refType="w" refFor="des" refForName="bigChev" op="equ" fact="0.4"/>
      <dgm:constr type="w" for="des" forName="node" refType="w" refFor="des" refForName="bigChev" fact="0.83"/>
      <dgm:constr type="h" for="des" forName="node" refType="w" refFor="des" refForName="node" op="equ" fact="0.4"/>
      <dgm:constr type="w" for="des" forName="parTrans" refType="w" refFor="des" refForName="bigChev" op="equ" fact="-0.13"/>
      <dgm:constr type="w" for="des" forName="sibTrans" refType="w" refFor="des" refForName="node" op="equ" fact="-0.14"/>
      <dgm:constr type="h" for="ch" forName="vSp" refType="h" refFor="des" refForName="bigChev" op="equ" fact="0.14"/>
      <dgm:constr type="primFontSz" for="des" forName="node" op="equ"/>
      <dgm:constr type="primFontSz" for="des" forName="bigChev" op="equ"/>
    </dgm:constrLst>
    <dgm:ruleLst/>
    <dgm:forEach name="Name4" axis="ch" ptType="node">
      <dgm:layoutNode name="horFlow">
        <dgm:choose name="Name5">
          <dgm:if name="Name6" func="var" arg="dir" op="equ" val="norm">
            <dgm:alg type="lin">
              <dgm:param type="linDir" val="fromL"/>
              <dgm:param type="nodeHorzAlign" val="l"/>
              <dgm:param type="nodeVertAlign" val="mid"/>
              <dgm:param type="fallback" val="2D"/>
            </dgm:alg>
          </dgm:if>
          <dgm:else name="Name7">
            <dgm:alg type="lin">
              <dgm:param type="linDir" val="fromR"/>
              <dgm:param type="nodeHorzAlign" val="r"/>
              <dgm:param type="nodeVertAlign" val="mid"/>
              <dgm:param type="fallback" val="2D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bigChev" styleLbl="node1">
          <dgm:alg type="tx"/>
          <dgm:choose name="Name8">
            <dgm:if name="Name9" func="var" arg="dir" op="equ" val="norm">
              <dgm:shape xmlns:r="http://schemas.openxmlformats.org/officeDocument/2006/relationships" type="chevron" r:blip="">
                <dgm:adjLst/>
              </dgm:shape>
              <dgm:presOf axis="self"/>
              <dgm:constrLst>
                <dgm:constr type="primFontSz" val="65"/>
                <dgm:constr type="rMarg"/>
                <dgm:constr type="lMarg" refType="primFontSz" fact="0.1"/>
                <dgm:constr type="tMarg" refType="primFontSz" fact="0.05"/>
                <dgm:constr type="bMarg" refType="primFontSz" fact="0.05"/>
              </dgm:constrLst>
            </dgm:if>
            <dgm:else name="Name10">
              <dgm:shape xmlns:r="http://schemas.openxmlformats.org/officeDocument/2006/relationships" rot="180" type="chevron" r:blip="">
                <dgm:adjLst/>
              </dgm:shape>
              <dgm:presOf axis="self"/>
              <dgm:constrLst>
                <dgm:constr type="primFontSz" val="65"/>
                <dgm:constr type="lMarg"/>
                <dgm:constr type="rMarg" refType="primFontSz" fact="0.1"/>
                <dgm:constr type="tMarg" refType="primFontSz" fact="0.05"/>
                <dgm:constr type="bMarg" refType="primFontSz" fact="0.05"/>
              </dgm:constrLst>
            </dgm:else>
          </dgm:choose>
          <dgm:ruleLst>
            <dgm:rule type="primFontSz" val="5" fact="NaN" max="NaN"/>
          </dgm:ruleLst>
        </dgm:layoutNode>
        <dgm:forEach name="parTransForEach" axis="ch" ptType="parTrans" cnt="1">
          <dgm:layoutNode name="par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  <dgm:forEach name="Name11" axis="ch" ptType="node">
          <dgm:layoutNode name="node" styleLbl="alignAccFollowNode1">
            <dgm:varLst>
              <dgm:bulletEnabled val="1"/>
            </dgm:varLst>
            <dgm:alg type="tx"/>
            <dgm:choose name="Name12">
              <dgm:if name="Name13" func="var" arg="dir" op="equ" val="norm">
                <dgm:shape xmlns:r="http://schemas.openxmlformats.org/officeDocument/2006/relationships" type="chevron" r:blip="">
                  <dgm:adjLst/>
                </dgm:shape>
                <dgm:presOf axis="desOrSelf" ptType="node"/>
                <dgm:constrLst>
                  <dgm:constr type="primFontSz" val="65"/>
                  <dgm:constr type="rMarg"/>
                  <dgm:constr type="lMarg" refType="primFontSz" fact="0.1"/>
                  <dgm:constr type="tMarg" refType="primFontSz" fact="0.05"/>
                  <dgm:constr type="bMarg" refType="primFontSz" fact="0.05"/>
                </dgm:constrLst>
              </dgm:if>
              <dgm:else name="Name14">
                <dgm:shape xmlns:r="http://schemas.openxmlformats.org/officeDocument/2006/relationships" rot="180" type="chevron" r:blip="">
                  <dgm:adjLst/>
                </dgm:shape>
                <dgm:presOf axis="desOrSelf" ptType="node"/>
                <dgm:constrLst>
                  <dgm:constr type="primFontSz" val="65"/>
                  <dgm:constr type="lMarg"/>
                  <dgm:constr type="rMarg" refType="primFontSz" fact="0.1"/>
                  <dgm:constr type="tMarg" refType="primFontSz" fact="0.05"/>
                  <dgm:constr type="bMarg" refType="primFontSz" fact="0.05"/>
                </dgm:constrLst>
              </dgm:else>
            </dgm:choose>
            <dgm:ruleLst>
              <dgm:rule type="primFontSz" val="5" fact="NaN" max="NaN"/>
            </dgm:ruleLst>
          </dgm:layoutNode>
          <dgm:forEach name="sibTransForEach" axis="followSib" ptType="sibTrans" cnt="1">
            <dgm:layoutNode name="sibTrans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layoutNode>
      <dgm:choose name="Name15">
        <dgm:if name="Name16" axis="self" ptType="node" func="revPos" op="gte" val="2">
          <dgm:layoutNode name="vSp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7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921582" cy="49550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18971" y="0"/>
            <a:ext cx="2921582" cy="49550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755620D-C7EC-48EA-B96F-FBBC3C031AD2}" type="datetimeFigureOut">
              <a:rPr lang="fr-FR" smtClean="0"/>
              <a:t>17/05/2024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407988" y="1233488"/>
            <a:ext cx="5926137" cy="3333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74212" y="4752748"/>
            <a:ext cx="5393690" cy="3888611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1" y="9380333"/>
            <a:ext cx="2921582" cy="49550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18971" y="9380333"/>
            <a:ext cx="2921582" cy="49550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4FE76D6-D2EB-410F-BB74-C1C5DA52A24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545634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pic>
        <p:nvPicPr>
          <p:cNvPr id="5" name="Image 1" descr="Une image contenant texte, clipart&#10;&#10;Description générée automatiquement">
            <a:extLst>
              <a:ext uri="{FF2B5EF4-FFF2-40B4-BE49-F238E27FC236}">
                <a16:creationId xmlns:a16="http://schemas.microsoft.com/office/drawing/2014/main" id="{9875A09A-1773-811C-7245-DF344D7B25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32188" y="5602288"/>
            <a:ext cx="4138612" cy="704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Arc 6">
            <a:extLst>
              <a:ext uri="{FF2B5EF4-FFF2-40B4-BE49-F238E27FC236}">
                <a16:creationId xmlns:a16="http://schemas.microsoft.com/office/drawing/2014/main" id="{6CBEE842-4E0C-F47F-6850-8609FBA8C063}"/>
              </a:ext>
            </a:extLst>
          </p:cNvPr>
          <p:cNvSpPr/>
          <p:nvPr/>
        </p:nvSpPr>
        <p:spPr>
          <a:xfrm rot="18907594">
            <a:off x="209550" y="277813"/>
            <a:ext cx="3397250" cy="3130550"/>
          </a:xfrm>
          <a:prstGeom prst="arc">
            <a:avLst>
              <a:gd name="adj1" fmla="val 13395774"/>
              <a:gd name="adj2" fmla="val 19347342"/>
            </a:avLst>
          </a:prstGeom>
          <a:ln w="4127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</p:txBody>
      </p:sp>
      <p:sp>
        <p:nvSpPr>
          <p:cNvPr id="8" name="Arc 7">
            <a:extLst>
              <a:ext uri="{FF2B5EF4-FFF2-40B4-BE49-F238E27FC236}">
                <a16:creationId xmlns:a16="http://schemas.microsoft.com/office/drawing/2014/main" id="{DDD4CD07-C25A-DA6E-DD98-9AC69F2B4A72}"/>
              </a:ext>
            </a:extLst>
          </p:cNvPr>
          <p:cNvSpPr/>
          <p:nvPr/>
        </p:nvSpPr>
        <p:spPr>
          <a:xfrm rot="9126816">
            <a:off x="5875338" y="1722438"/>
            <a:ext cx="6181725" cy="4740275"/>
          </a:xfrm>
          <a:prstGeom prst="arc">
            <a:avLst>
              <a:gd name="adj1" fmla="val 12024393"/>
              <a:gd name="adj2" fmla="val 18273398"/>
            </a:avLst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995050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pied de page 4">
            <a:extLst>
              <a:ext uri="{FF2B5EF4-FFF2-40B4-BE49-F238E27FC236}">
                <a16:creationId xmlns:a16="http://schemas.microsoft.com/office/drawing/2014/main" id="{E1723BA0-AFF4-3CB3-4275-B116ED73C53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737502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pied de page 4">
            <a:extLst>
              <a:ext uri="{FF2B5EF4-FFF2-40B4-BE49-F238E27FC236}">
                <a16:creationId xmlns:a16="http://schemas.microsoft.com/office/drawing/2014/main" id="{B38C2EF3-CE45-25DA-6558-9F255AA64DB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934936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FF54424-D07F-FAB7-F5A5-6907BAC5041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961101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u pied de page 4">
            <a:extLst>
              <a:ext uri="{FF2B5EF4-FFF2-40B4-BE49-F238E27FC236}">
                <a16:creationId xmlns:a16="http://schemas.microsoft.com/office/drawing/2014/main" id="{F8A1D8FD-DACD-3BE2-82D0-C9BEDCA017E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031262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pied de page 4">
            <a:extLst>
              <a:ext uri="{FF2B5EF4-FFF2-40B4-BE49-F238E27FC236}">
                <a16:creationId xmlns:a16="http://schemas.microsoft.com/office/drawing/2014/main" id="{55410A4D-582B-BFC2-8C69-3D8D8297272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153332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pied de page 4">
            <a:extLst>
              <a:ext uri="{FF2B5EF4-FFF2-40B4-BE49-F238E27FC236}">
                <a16:creationId xmlns:a16="http://schemas.microsoft.com/office/drawing/2014/main" id="{D6865E31-550F-1AB1-65F7-33DAF7574D1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79279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E0CC4B6-36B7-7510-80FE-1F60AB63A88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374076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fr-FR" noProof="0"/>
              <a:t>Cliquez sur l'icône pour ajouter une image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D58DEC7-213D-4A9A-01C1-E25367ADD6D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189953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pied de page 4">
            <a:extLst>
              <a:ext uri="{FF2B5EF4-FFF2-40B4-BE49-F238E27FC236}">
                <a16:creationId xmlns:a16="http://schemas.microsoft.com/office/drawing/2014/main" id="{259F12AA-8A86-13C9-E36A-A0A85DD9EA5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730600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pied de page 4">
            <a:extLst>
              <a:ext uri="{FF2B5EF4-FFF2-40B4-BE49-F238E27FC236}">
                <a16:creationId xmlns:a16="http://schemas.microsoft.com/office/drawing/2014/main" id="{E1452775-0FAA-AB34-7AC7-94463886083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157722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</p:spTree>
    <p:extLst>
      <p:ext uri="{BB962C8B-B14F-4D97-AF65-F5344CB8AC3E}">
        <p14:creationId xmlns:p14="http://schemas.microsoft.com/office/powerpoint/2010/main" val="207133124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fr-FR"/>
              <a:t>Cliquez et modifiez le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Cliquez pour modifier le style des sous-titres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98DDE-7C09-8943-B60B-DC7DCCEBA65B}" type="datetimeFigureOut">
              <a:rPr lang="fr-FR" smtClean="0"/>
              <a:pPr/>
              <a:t>17/05/2024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8BF26-6ACA-3249-AC7A-5E81FD69C960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66395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54275FB-9B83-2FA8-6777-451A8269A9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F4AB99E-0CD5-49F6-A47C-1979B5A9E501}" type="datetimeFigureOut">
              <a:rPr lang="fr-FR"/>
              <a:pPr>
                <a:defRPr/>
              </a:pPr>
              <a:t>17/05/2024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39F2D8D-2031-24B5-7947-893DF53EBB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BE2AA9B-B797-41BA-2A16-D84C320DA9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A2D42D5-6EC0-422A-A82C-10ABF4F2F7C2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9339411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0B16DA1-EB11-A8DE-9059-DCEACFABDD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A017A5-F8C7-425E-A4B4-452775BF88DA}" type="datetimeFigureOut">
              <a:rPr lang="fr-FR"/>
              <a:pPr>
                <a:defRPr/>
              </a:pPr>
              <a:t>17/05/2024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492DFDB-8440-B45E-AC4F-64FF01CA4E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FF02F7F-1EB4-A689-3628-EE25122AD5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3125019-11FE-436E-B526-14608BE4BCFF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0470986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F659CD7-FE9F-1A72-FDF8-3EFC04261E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BBFD0D3-0416-472B-8C79-C0CE8B9D0481}" type="datetimeFigureOut">
              <a:rPr lang="fr-FR"/>
              <a:pPr>
                <a:defRPr/>
              </a:pPr>
              <a:t>17/05/2024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DA9D166-712D-1BFA-E51B-FFF37A1193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ED7718D-EF5E-B897-A556-020CF98F9E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BFDCBDD-316C-4A00-89F3-6F3804A41CD4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4828377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3">
            <a:extLst>
              <a:ext uri="{FF2B5EF4-FFF2-40B4-BE49-F238E27FC236}">
                <a16:creationId xmlns:a16="http://schemas.microsoft.com/office/drawing/2014/main" id="{6F26CABE-8863-D1D5-ED44-A122EE6B4F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A54883-21DA-4279-9551-0E810184A3F4}" type="datetimeFigureOut">
              <a:rPr lang="fr-FR"/>
              <a:pPr>
                <a:defRPr/>
              </a:pPr>
              <a:t>17/05/2024</a:t>
            </a:fld>
            <a:endParaRPr lang="fr-FR"/>
          </a:p>
        </p:txBody>
      </p:sp>
      <p:sp>
        <p:nvSpPr>
          <p:cNvPr id="6" name="Espace réservé du pied de page 4">
            <a:extLst>
              <a:ext uri="{FF2B5EF4-FFF2-40B4-BE49-F238E27FC236}">
                <a16:creationId xmlns:a16="http://schemas.microsoft.com/office/drawing/2014/main" id="{02A2AC1C-BB3D-AEC5-34C4-713E0AE913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5">
            <a:extLst>
              <a:ext uri="{FF2B5EF4-FFF2-40B4-BE49-F238E27FC236}">
                <a16:creationId xmlns:a16="http://schemas.microsoft.com/office/drawing/2014/main" id="{3E7CF0C6-5754-F732-8B6C-6667EE6F79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8CD3E14-5286-40FA-BC5A-0E6BD475368A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2847746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3">
            <a:extLst>
              <a:ext uri="{FF2B5EF4-FFF2-40B4-BE49-F238E27FC236}">
                <a16:creationId xmlns:a16="http://schemas.microsoft.com/office/drawing/2014/main" id="{9F7956DC-8F2D-F73F-8C68-967EA30C09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6AE9D50-2B55-4D0C-B354-4CBF831A1DA4}" type="datetimeFigureOut">
              <a:rPr lang="fr-FR"/>
              <a:pPr>
                <a:defRPr/>
              </a:pPr>
              <a:t>17/05/2024</a:t>
            </a:fld>
            <a:endParaRPr lang="fr-FR"/>
          </a:p>
        </p:txBody>
      </p:sp>
      <p:sp>
        <p:nvSpPr>
          <p:cNvPr id="8" name="Espace réservé du pied de page 4">
            <a:extLst>
              <a:ext uri="{FF2B5EF4-FFF2-40B4-BE49-F238E27FC236}">
                <a16:creationId xmlns:a16="http://schemas.microsoft.com/office/drawing/2014/main" id="{55571248-378F-860A-3C06-5F771CAFAB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9" name="Espace réservé du numéro de diapositive 5">
            <a:extLst>
              <a:ext uri="{FF2B5EF4-FFF2-40B4-BE49-F238E27FC236}">
                <a16:creationId xmlns:a16="http://schemas.microsoft.com/office/drawing/2014/main" id="{63551C5E-6DC0-E563-03B0-61B285868C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6883A6-C5E8-4F80-BB9D-A262862EF646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5869992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3">
            <a:extLst>
              <a:ext uri="{FF2B5EF4-FFF2-40B4-BE49-F238E27FC236}">
                <a16:creationId xmlns:a16="http://schemas.microsoft.com/office/drawing/2014/main" id="{C703D807-806D-3F6D-AF80-3465196AB6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0114F2B-A566-4CA1-B382-94CC0990EC4D}" type="datetimeFigureOut">
              <a:rPr lang="fr-FR"/>
              <a:pPr>
                <a:defRPr/>
              </a:pPr>
              <a:t>17/05/2024</a:t>
            </a:fld>
            <a:endParaRPr lang="fr-FR"/>
          </a:p>
        </p:txBody>
      </p:sp>
      <p:sp>
        <p:nvSpPr>
          <p:cNvPr id="4" name="Espace réservé du pied de page 4">
            <a:extLst>
              <a:ext uri="{FF2B5EF4-FFF2-40B4-BE49-F238E27FC236}">
                <a16:creationId xmlns:a16="http://schemas.microsoft.com/office/drawing/2014/main" id="{7EBA5E22-08AE-1F9A-0EB8-DD9BEAE0A3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Espace réservé du numéro de diapositive 5">
            <a:extLst>
              <a:ext uri="{FF2B5EF4-FFF2-40B4-BE49-F238E27FC236}">
                <a16:creationId xmlns:a16="http://schemas.microsoft.com/office/drawing/2014/main" id="{1DCC2E37-A58F-C630-94BD-974FA3DB60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FB30C0-17D3-4B5E-8873-DCFE988A0B55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6444124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3">
            <a:extLst>
              <a:ext uri="{FF2B5EF4-FFF2-40B4-BE49-F238E27FC236}">
                <a16:creationId xmlns:a16="http://schemas.microsoft.com/office/drawing/2014/main" id="{490ADFD8-3664-D173-69B7-66245B9E65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FE8BA73-CC0F-4211-8E95-89E688B5ADEC}" type="datetimeFigureOut">
              <a:rPr lang="fr-FR"/>
              <a:pPr>
                <a:defRPr/>
              </a:pPr>
              <a:t>17/05/2024</a:t>
            </a:fld>
            <a:endParaRPr lang="fr-FR"/>
          </a:p>
        </p:txBody>
      </p:sp>
      <p:sp>
        <p:nvSpPr>
          <p:cNvPr id="3" name="Espace réservé du pied de page 4">
            <a:extLst>
              <a:ext uri="{FF2B5EF4-FFF2-40B4-BE49-F238E27FC236}">
                <a16:creationId xmlns:a16="http://schemas.microsoft.com/office/drawing/2014/main" id="{18F63EC0-E521-85C5-B5FF-F848217CD9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4" name="Espace réservé du numéro de diapositive 5">
            <a:extLst>
              <a:ext uri="{FF2B5EF4-FFF2-40B4-BE49-F238E27FC236}">
                <a16:creationId xmlns:a16="http://schemas.microsoft.com/office/drawing/2014/main" id="{9191CAE5-58B7-AD88-FE2F-06396A9E68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6DE8511-D812-4C13-8E28-49C2FF2100D8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5182770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3">
            <a:extLst>
              <a:ext uri="{FF2B5EF4-FFF2-40B4-BE49-F238E27FC236}">
                <a16:creationId xmlns:a16="http://schemas.microsoft.com/office/drawing/2014/main" id="{819015D8-CED0-9005-903F-678F7DB8E6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B011FC1-4ACA-4E9A-93E2-1689BFF8B2C9}" type="datetimeFigureOut">
              <a:rPr lang="fr-FR"/>
              <a:pPr>
                <a:defRPr/>
              </a:pPr>
              <a:t>17/05/2024</a:t>
            </a:fld>
            <a:endParaRPr lang="fr-FR"/>
          </a:p>
        </p:txBody>
      </p:sp>
      <p:sp>
        <p:nvSpPr>
          <p:cNvPr id="6" name="Espace réservé du pied de page 4">
            <a:extLst>
              <a:ext uri="{FF2B5EF4-FFF2-40B4-BE49-F238E27FC236}">
                <a16:creationId xmlns:a16="http://schemas.microsoft.com/office/drawing/2014/main" id="{76C88575-2FE5-E48A-FFAC-E9BE3D6154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5">
            <a:extLst>
              <a:ext uri="{FF2B5EF4-FFF2-40B4-BE49-F238E27FC236}">
                <a16:creationId xmlns:a16="http://schemas.microsoft.com/office/drawing/2014/main" id="{BDB517F7-A782-9C22-89FC-478264098C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19BADB0-42DC-4F3E-AE9C-180DA06C35AF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9496937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3">
            <a:extLst>
              <a:ext uri="{FF2B5EF4-FFF2-40B4-BE49-F238E27FC236}">
                <a16:creationId xmlns:a16="http://schemas.microsoft.com/office/drawing/2014/main" id="{8071CB87-73B5-5130-607B-C41E68611C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AEF4BC5-8F11-4450-B010-7D56E2F6FA48}" type="datetimeFigureOut">
              <a:rPr lang="fr-FR"/>
              <a:pPr>
                <a:defRPr/>
              </a:pPr>
              <a:t>17/05/2024</a:t>
            </a:fld>
            <a:endParaRPr lang="fr-FR"/>
          </a:p>
        </p:txBody>
      </p:sp>
      <p:sp>
        <p:nvSpPr>
          <p:cNvPr id="6" name="Espace réservé du pied de page 4">
            <a:extLst>
              <a:ext uri="{FF2B5EF4-FFF2-40B4-BE49-F238E27FC236}">
                <a16:creationId xmlns:a16="http://schemas.microsoft.com/office/drawing/2014/main" id="{90EF2EA4-64B2-62D7-2A48-19BD1CEBBB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5">
            <a:extLst>
              <a:ext uri="{FF2B5EF4-FFF2-40B4-BE49-F238E27FC236}">
                <a16:creationId xmlns:a16="http://schemas.microsoft.com/office/drawing/2014/main" id="{80F3B558-3E0B-4D2B-83E4-7E6D5E95A5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DC8024D-5792-4343-88DA-A5AA02A4D330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2080447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57170FD-9D4F-33B5-A2DE-1287670458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30D0B07-E2AE-4191-9186-03AB2C1CBEF3}" type="datetimeFigureOut">
              <a:rPr lang="fr-FR"/>
              <a:pPr>
                <a:defRPr/>
              </a:pPr>
              <a:t>17/05/2024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EEBABB3-3DED-0685-3E23-444EFBDA58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D7A514F-B671-F3F8-1817-A16202DCF9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2D9A8D8-BE5D-4933-96E2-A52132447865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2586302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29D2B9F-1346-8D97-C1CD-9B9C7A0D11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60556E2-96DC-4A7F-B335-37C5545CEE64}" type="datetimeFigureOut">
              <a:rPr lang="fr-FR"/>
              <a:pPr>
                <a:defRPr/>
              </a:pPr>
              <a:t>17/05/2024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3B6875C-FC8E-8C4A-26D7-2223C46205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01F3F95-10AE-9CB7-8068-D1871DF645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E179A8B-5425-4609-8B9A-DBBD2F8B4A5D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7836628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87781EF-AB4C-D638-A997-549B4668DD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EBC4F22-B800-4A28-899C-265EA80835E3}" type="datetimeFigureOut">
              <a:rPr lang="fr-FR"/>
              <a:pPr>
                <a:defRPr/>
              </a:pPr>
              <a:t>17/05/2024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70F38C5-8571-35CA-C938-CF502FCF86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2563F3D-035D-2E4B-A5DC-C5B2BDEC43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B94FF57-CD58-4A67-A70F-33C78346EB65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3679571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98D55FA-126E-EBA5-3219-0FDD5102BE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3E0E265-35FE-4FA8-8D7E-2FA35248C030}" type="datetimeFigureOut">
              <a:rPr lang="fr-FR"/>
              <a:pPr>
                <a:defRPr/>
              </a:pPr>
              <a:t>17/05/2024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D3C7789-4392-9EFF-F6A0-FB370BEBE5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7B5BA3B-AE8F-57F8-123F-275EF45406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7FD607D-0BC2-445F-B377-3054C602F9A9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5986613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EDD42F9-8FF1-0BDF-57EF-CD325F0C78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2D6E18-7B91-4B66-B09A-C126CB612068}" type="datetimeFigureOut">
              <a:rPr lang="fr-FR"/>
              <a:pPr>
                <a:defRPr/>
              </a:pPr>
              <a:t>17/05/2024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6C68CEC-319A-5C32-8EC7-A200C55681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A3529D3-A2F8-00AF-A5CA-EEAF6DAC94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4FD181A-797D-4F17-BDA4-5C3CF63BC96F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2956342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3">
            <a:extLst>
              <a:ext uri="{FF2B5EF4-FFF2-40B4-BE49-F238E27FC236}">
                <a16:creationId xmlns:a16="http://schemas.microsoft.com/office/drawing/2014/main" id="{13D1D8EE-0421-CE24-4185-179AD80BB0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527522E-5572-463E-AB6F-AC28C269BD41}" type="datetimeFigureOut">
              <a:rPr lang="fr-FR"/>
              <a:pPr>
                <a:defRPr/>
              </a:pPr>
              <a:t>17/05/2024</a:t>
            </a:fld>
            <a:endParaRPr lang="fr-FR"/>
          </a:p>
        </p:txBody>
      </p:sp>
      <p:sp>
        <p:nvSpPr>
          <p:cNvPr id="6" name="Espace réservé du pied de page 4">
            <a:extLst>
              <a:ext uri="{FF2B5EF4-FFF2-40B4-BE49-F238E27FC236}">
                <a16:creationId xmlns:a16="http://schemas.microsoft.com/office/drawing/2014/main" id="{A0661E53-CDF0-12AB-17E8-597003C37C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5">
            <a:extLst>
              <a:ext uri="{FF2B5EF4-FFF2-40B4-BE49-F238E27FC236}">
                <a16:creationId xmlns:a16="http://schemas.microsoft.com/office/drawing/2014/main" id="{00823737-22DC-7D6C-A740-2B2CF55D3C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FCA398-ACE2-464B-8BF4-8EC8BC366E91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3650165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3">
            <a:extLst>
              <a:ext uri="{FF2B5EF4-FFF2-40B4-BE49-F238E27FC236}">
                <a16:creationId xmlns:a16="http://schemas.microsoft.com/office/drawing/2014/main" id="{60995949-07DD-44B6-37EA-8731A1A46B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725A7F7-A277-498A-B934-1E43CA5BEDEF}" type="datetimeFigureOut">
              <a:rPr lang="fr-FR"/>
              <a:pPr>
                <a:defRPr/>
              </a:pPr>
              <a:t>17/05/2024</a:t>
            </a:fld>
            <a:endParaRPr lang="fr-FR"/>
          </a:p>
        </p:txBody>
      </p:sp>
      <p:sp>
        <p:nvSpPr>
          <p:cNvPr id="8" name="Espace réservé du pied de page 4">
            <a:extLst>
              <a:ext uri="{FF2B5EF4-FFF2-40B4-BE49-F238E27FC236}">
                <a16:creationId xmlns:a16="http://schemas.microsoft.com/office/drawing/2014/main" id="{72D132C9-51D6-1AA2-4E2F-15D56B0A30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9" name="Espace réservé du numéro de diapositive 5">
            <a:extLst>
              <a:ext uri="{FF2B5EF4-FFF2-40B4-BE49-F238E27FC236}">
                <a16:creationId xmlns:a16="http://schemas.microsoft.com/office/drawing/2014/main" id="{5F11B8B1-8968-3491-46B3-775A75D3B8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79CEAF8-B193-4E4F-A1ED-6CE602BA6F1A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0853149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3">
            <a:extLst>
              <a:ext uri="{FF2B5EF4-FFF2-40B4-BE49-F238E27FC236}">
                <a16:creationId xmlns:a16="http://schemas.microsoft.com/office/drawing/2014/main" id="{E77B7A9F-B952-123F-4A56-366256F566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6793FF1-6875-4F1E-B26F-A068150BF28A}" type="datetimeFigureOut">
              <a:rPr lang="fr-FR"/>
              <a:pPr>
                <a:defRPr/>
              </a:pPr>
              <a:t>17/05/2024</a:t>
            </a:fld>
            <a:endParaRPr lang="fr-FR"/>
          </a:p>
        </p:txBody>
      </p:sp>
      <p:sp>
        <p:nvSpPr>
          <p:cNvPr id="4" name="Espace réservé du pied de page 4">
            <a:extLst>
              <a:ext uri="{FF2B5EF4-FFF2-40B4-BE49-F238E27FC236}">
                <a16:creationId xmlns:a16="http://schemas.microsoft.com/office/drawing/2014/main" id="{4FE4C136-5895-8B96-B5C0-E1AD1B8E3B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Espace réservé du numéro de diapositive 5">
            <a:extLst>
              <a:ext uri="{FF2B5EF4-FFF2-40B4-BE49-F238E27FC236}">
                <a16:creationId xmlns:a16="http://schemas.microsoft.com/office/drawing/2014/main" id="{63683C02-024A-33FE-4262-987F988681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F48333-DB6C-43DB-A45A-6CC05369410E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68676757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3">
            <a:extLst>
              <a:ext uri="{FF2B5EF4-FFF2-40B4-BE49-F238E27FC236}">
                <a16:creationId xmlns:a16="http://schemas.microsoft.com/office/drawing/2014/main" id="{E5F5322C-C89D-A3C4-C474-41CBB9AED5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5198A84-0A01-457D-893B-8A4BC743E575}" type="datetimeFigureOut">
              <a:rPr lang="fr-FR"/>
              <a:pPr>
                <a:defRPr/>
              </a:pPr>
              <a:t>17/05/2024</a:t>
            </a:fld>
            <a:endParaRPr lang="fr-FR"/>
          </a:p>
        </p:txBody>
      </p:sp>
      <p:sp>
        <p:nvSpPr>
          <p:cNvPr id="3" name="Espace réservé du pied de page 4">
            <a:extLst>
              <a:ext uri="{FF2B5EF4-FFF2-40B4-BE49-F238E27FC236}">
                <a16:creationId xmlns:a16="http://schemas.microsoft.com/office/drawing/2014/main" id="{47AB98CB-3FD6-2AB2-82B0-69111C487C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4" name="Espace réservé du numéro de diapositive 5">
            <a:extLst>
              <a:ext uri="{FF2B5EF4-FFF2-40B4-BE49-F238E27FC236}">
                <a16:creationId xmlns:a16="http://schemas.microsoft.com/office/drawing/2014/main" id="{47A09F95-C179-15C6-0A0F-3A0036FFAB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E38D0E-E2AD-4871-8FBD-229D7A9864C9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8365210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3">
            <a:extLst>
              <a:ext uri="{FF2B5EF4-FFF2-40B4-BE49-F238E27FC236}">
                <a16:creationId xmlns:a16="http://schemas.microsoft.com/office/drawing/2014/main" id="{9C205EDE-EE3C-54D4-B87D-CEF8E7920A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4A8528-F14B-482F-9EF3-E1D65465B02B}" type="datetimeFigureOut">
              <a:rPr lang="fr-FR"/>
              <a:pPr>
                <a:defRPr/>
              </a:pPr>
              <a:t>17/05/2024</a:t>
            </a:fld>
            <a:endParaRPr lang="fr-FR"/>
          </a:p>
        </p:txBody>
      </p:sp>
      <p:sp>
        <p:nvSpPr>
          <p:cNvPr id="6" name="Espace réservé du pied de page 4">
            <a:extLst>
              <a:ext uri="{FF2B5EF4-FFF2-40B4-BE49-F238E27FC236}">
                <a16:creationId xmlns:a16="http://schemas.microsoft.com/office/drawing/2014/main" id="{DA83F051-B010-053B-9F40-4C01F51B47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5">
            <a:extLst>
              <a:ext uri="{FF2B5EF4-FFF2-40B4-BE49-F238E27FC236}">
                <a16:creationId xmlns:a16="http://schemas.microsoft.com/office/drawing/2014/main" id="{D2CDECD8-EE78-C138-0F6B-96DD01260A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7FE0AF6-812B-4406-9043-AE1DB4E4A923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2889928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3">
            <a:extLst>
              <a:ext uri="{FF2B5EF4-FFF2-40B4-BE49-F238E27FC236}">
                <a16:creationId xmlns:a16="http://schemas.microsoft.com/office/drawing/2014/main" id="{DF5E1C9B-C965-A0E6-4D11-A9657D701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DE5232-6930-420A-81D7-89372B5BC060}" type="datetimeFigureOut">
              <a:rPr lang="fr-FR"/>
              <a:pPr>
                <a:defRPr/>
              </a:pPr>
              <a:t>17/05/2024</a:t>
            </a:fld>
            <a:endParaRPr lang="fr-FR"/>
          </a:p>
        </p:txBody>
      </p:sp>
      <p:sp>
        <p:nvSpPr>
          <p:cNvPr id="6" name="Espace réservé du pied de page 4">
            <a:extLst>
              <a:ext uri="{FF2B5EF4-FFF2-40B4-BE49-F238E27FC236}">
                <a16:creationId xmlns:a16="http://schemas.microsoft.com/office/drawing/2014/main" id="{A132C795-D57C-B19E-1C57-3C895811AD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5">
            <a:extLst>
              <a:ext uri="{FF2B5EF4-FFF2-40B4-BE49-F238E27FC236}">
                <a16:creationId xmlns:a16="http://schemas.microsoft.com/office/drawing/2014/main" id="{F7403477-F3A1-03BF-97BC-8C0F9EC77E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FAA0690-D5F6-4AE2-9798-75691B5BAF42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4174003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1F238D0-0930-6473-42A7-E41B50E8F5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5F3B170-1405-4723-8871-5B442CB5F41E}" type="datetimeFigureOut">
              <a:rPr lang="fr-FR"/>
              <a:pPr>
                <a:defRPr/>
              </a:pPr>
              <a:t>17/05/2024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B959476-26DC-689D-F316-B640EF8E86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CD69E04-24FF-33AC-A5EB-589FBA981B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778D97E-D4AE-4071-A4F8-2189DE371ABC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8623106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51C8C0D-6DC7-8E2E-0076-226945DB4B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B3561A-F88A-4A85-8F8E-AF711F110A18}" type="datetimeFigureOut">
              <a:rPr lang="fr-FR"/>
              <a:pPr>
                <a:defRPr/>
              </a:pPr>
              <a:t>17/05/2024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A6F2ABA-E928-BBB7-F98E-18042470D7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4A451C6-EAAF-3BA8-FCF3-B1CD3C17A6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028C370-25BF-4FDF-8302-C78B24C22089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063092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emf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1.bin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ags" Target="../tags/tag2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tags" Target="../tags/tag3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5" Type="http://schemas.openxmlformats.org/officeDocument/2006/relationships/image" Target="../media/image1.emf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oleObject" Target="../embeddings/oleObject2.bin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13" Type="http://schemas.openxmlformats.org/officeDocument/2006/relationships/tags" Target="../tags/tag4.xml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9.xml"/><Relationship Id="rId15" Type="http://schemas.openxmlformats.org/officeDocument/2006/relationships/image" Target="../media/image1.emf"/><Relationship Id="rId10" Type="http://schemas.openxmlformats.org/officeDocument/2006/relationships/slideLayout" Target="../slideLayouts/slideLayout34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Relationship Id="rId14" Type="http://schemas.openxmlformats.org/officeDocument/2006/relationships/oleObject" Target="../embeddings/oleObject3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D157875E-E055-7A02-C95E-6604DF159EC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5"/>
            </p:custDataLst>
            <p:extLst>
              <p:ext uri="{D42A27DB-BD31-4B8C-83A1-F6EECF244321}">
                <p14:modId xmlns:p14="http://schemas.microsoft.com/office/powerpoint/2010/main" val="289234509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e think-cell" r:id="rId16" imgW="415" imgH="416" progId="TCLayout.ActiveDocument.1">
                  <p:embed/>
                </p:oleObj>
              </mc:Choice>
              <mc:Fallback>
                <p:oleObj name="Diapositive think-cell" r:id="rId16" imgW="415" imgH="416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157875E-E055-7A02-C95E-6604DF159EC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Freeform: Shape 6">
            <a:extLst>
              <a:ext uri="{FF2B5EF4-FFF2-40B4-BE49-F238E27FC236}">
                <a16:creationId xmlns:a16="http://schemas.microsoft.com/office/drawing/2014/main" id="{2DACFA6E-BE27-A8E9-DCF6-4B4219DDF04D}"/>
              </a:ext>
            </a:extLst>
          </p:cNvPr>
          <p:cNvSpPr/>
          <p:nvPr/>
        </p:nvSpPr>
        <p:spPr>
          <a:xfrm rot="10800000">
            <a:off x="0" y="0"/>
            <a:ext cx="1987550" cy="2228850"/>
          </a:xfrm>
          <a:custGeom>
            <a:avLst/>
            <a:gdLst>
              <a:gd name="connsiteX0" fmla="*/ 3388058 w 3388208"/>
              <a:gd name="connsiteY0" fmla="*/ 0 h 3406341"/>
              <a:gd name="connsiteX1" fmla="*/ 3388208 w 3388208"/>
              <a:gd name="connsiteY1" fmla="*/ 0 h 3406341"/>
              <a:gd name="connsiteX2" fmla="*/ 3388208 w 3388208"/>
              <a:gd name="connsiteY2" fmla="*/ 3406341 h 3406341"/>
              <a:gd name="connsiteX3" fmla="*/ 0 w 3388208"/>
              <a:gd name="connsiteY3" fmla="*/ 3406341 h 3406341"/>
              <a:gd name="connsiteX4" fmla="*/ 79006 w 3388208"/>
              <a:gd name="connsiteY4" fmla="*/ 3404386 h 3406341"/>
              <a:gd name="connsiteX5" fmla="*/ 3383947 w 3388208"/>
              <a:gd name="connsiteY5" fmla="*/ 164274 h 3406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388208" h="3406341">
                <a:moveTo>
                  <a:pt x="3388058" y="0"/>
                </a:moveTo>
                <a:lnTo>
                  <a:pt x="3388208" y="0"/>
                </a:lnTo>
                <a:lnTo>
                  <a:pt x="3388208" y="3406341"/>
                </a:lnTo>
                <a:lnTo>
                  <a:pt x="0" y="3406341"/>
                </a:lnTo>
                <a:lnTo>
                  <a:pt x="79006" y="3404386"/>
                </a:lnTo>
                <a:cubicBezTo>
                  <a:pt x="1864742" y="3315784"/>
                  <a:pt x="3296223" y="1912901"/>
                  <a:pt x="3383947" y="164274"/>
                </a:cubicBezTo>
                <a:close/>
              </a:path>
            </a:pathLst>
          </a:custGeom>
          <a:solidFill>
            <a:schemeClr val="tx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027" name="Espace réservé du titre 1">
            <a:extLst>
              <a:ext uri="{FF2B5EF4-FFF2-40B4-BE49-F238E27FC236}">
                <a16:creationId xmlns:a16="http://schemas.microsoft.com/office/drawing/2014/main" id="{4190ECB3-74E3-05BE-C8F1-FF717DE5998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/>
              <a:t>Modifiez le style du titre</a:t>
            </a:r>
          </a:p>
        </p:txBody>
      </p:sp>
      <p:sp>
        <p:nvSpPr>
          <p:cNvPr id="1028" name="Espace réservé du texte 2">
            <a:extLst>
              <a:ext uri="{FF2B5EF4-FFF2-40B4-BE49-F238E27FC236}">
                <a16:creationId xmlns:a16="http://schemas.microsoft.com/office/drawing/2014/main" id="{56E0B19A-2DC1-FD43-40ED-9834E245EF2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/>
              <a:t>Cliquez pour modifier les styles du texte du masque</a:t>
            </a:r>
          </a:p>
          <a:p>
            <a:pPr lvl="1"/>
            <a:r>
              <a:rPr lang="fr-FR" altLang="fr-FR"/>
              <a:t>Deuxième niveau</a:t>
            </a:r>
          </a:p>
          <a:p>
            <a:pPr lvl="2"/>
            <a:r>
              <a:rPr lang="fr-FR" altLang="fr-FR"/>
              <a:t>Troisième niveau</a:t>
            </a:r>
          </a:p>
          <a:p>
            <a:pPr lvl="3"/>
            <a:r>
              <a:rPr lang="fr-FR" altLang="fr-FR"/>
              <a:t>Quatrième niveau</a:t>
            </a:r>
          </a:p>
          <a:p>
            <a:pPr lvl="4"/>
            <a:r>
              <a:rPr lang="fr-FR" altLang="fr-FR"/>
              <a:t>Cinquième niveau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B6CA9EB-8883-B4FA-270F-EAF5920DFE4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87550" y="6356350"/>
            <a:ext cx="697071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 dirty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FCA09541-F838-4F8A-18DA-9EE9181D4709}"/>
              </a:ext>
            </a:extLst>
          </p:cNvPr>
          <p:cNvSpPr/>
          <p:nvPr/>
        </p:nvSpPr>
        <p:spPr>
          <a:xfrm>
            <a:off x="8804275" y="3455988"/>
            <a:ext cx="3387725" cy="3406775"/>
          </a:xfrm>
          <a:custGeom>
            <a:avLst/>
            <a:gdLst>
              <a:gd name="connsiteX0" fmla="*/ 3388058 w 3388208"/>
              <a:gd name="connsiteY0" fmla="*/ 0 h 3406341"/>
              <a:gd name="connsiteX1" fmla="*/ 3388208 w 3388208"/>
              <a:gd name="connsiteY1" fmla="*/ 0 h 3406341"/>
              <a:gd name="connsiteX2" fmla="*/ 3388208 w 3388208"/>
              <a:gd name="connsiteY2" fmla="*/ 3406341 h 3406341"/>
              <a:gd name="connsiteX3" fmla="*/ 0 w 3388208"/>
              <a:gd name="connsiteY3" fmla="*/ 3406341 h 3406341"/>
              <a:gd name="connsiteX4" fmla="*/ 79006 w 3388208"/>
              <a:gd name="connsiteY4" fmla="*/ 3404386 h 3406341"/>
              <a:gd name="connsiteX5" fmla="*/ 3383947 w 3388208"/>
              <a:gd name="connsiteY5" fmla="*/ 164274 h 3406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388208" h="3406341">
                <a:moveTo>
                  <a:pt x="3388058" y="0"/>
                </a:moveTo>
                <a:lnTo>
                  <a:pt x="3388208" y="0"/>
                </a:lnTo>
                <a:lnTo>
                  <a:pt x="3388208" y="3406341"/>
                </a:lnTo>
                <a:lnTo>
                  <a:pt x="0" y="3406341"/>
                </a:lnTo>
                <a:lnTo>
                  <a:pt x="79006" y="3404386"/>
                </a:lnTo>
                <a:cubicBezTo>
                  <a:pt x="1864742" y="3315784"/>
                  <a:pt x="3296223" y="1912901"/>
                  <a:pt x="3383947" y="164274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6" r:id="rId1"/>
    <p:sldLayoutId id="2147483727" r:id="rId2"/>
    <p:sldLayoutId id="2147483728" r:id="rId3"/>
    <p:sldLayoutId id="2147483729" r:id="rId4"/>
    <p:sldLayoutId id="2147483730" r:id="rId5"/>
    <p:sldLayoutId id="2147483731" r:id="rId6"/>
    <p:sldLayoutId id="2147483732" r:id="rId7"/>
    <p:sldLayoutId id="2147483733" r:id="rId8"/>
    <p:sldLayoutId id="2147483734" r:id="rId9"/>
    <p:sldLayoutId id="2147483735" r:id="rId10"/>
    <p:sldLayoutId id="2147483736" r:id="rId11"/>
    <p:sldLayoutId id="2147483759" r:id="rId12"/>
    <p:sldLayoutId id="2147483760" r:id="rId13"/>
  </p:sldLayoutIdLst>
  <p:txStyles>
    <p:titleStyle>
      <a:lvl1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2pPr>
      <a:lvl3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3pPr>
      <a:lvl4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4pPr>
      <a:lvl5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5pPr>
      <a:lvl6pPr marL="4572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6pPr>
      <a:lvl7pPr marL="9144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7pPr>
      <a:lvl8pPr marL="13716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8pPr>
      <a:lvl9pPr marL="18288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228600" indent="-228600" algn="l" rtl="0" eaLnBrk="1" fontAlgn="base" hangingPunct="1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8847091B-5987-7D98-B024-8C10DBB4C0A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3"/>
            </p:custDataLst>
            <p:extLst>
              <p:ext uri="{D42A27DB-BD31-4B8C-83A1-F6EECF244321}">
                <p14:modId xmlns:p14="http://schemas.microsoft.com/office/powerpoint/2010/main" val="389909094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e think-cell" r:id="rId14" imgW="415" imgH="416" progId="TCLayout.ActiveDocument.1">
                  <p:embed/>
                </p:oleObj>
              </mc:Choice>
              <mc:Fallback>
                <p:oleObj name="Diapositive think-cell" r:id="rId14" imgW="415" imgH="416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847091B-5987-7D98-B024-8C10DBB4C0A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50" name="Espace réservé du texte 2">
            <a:extLst>
              <a:ext uri="{FF2B5EF4-FFF2-40B4-BE49-F238E27FC236}">
                <a16:creationId xmlns:a16="http://schemas.microsoft.com/office/drawing/2014/main" id="{3BF9D17D-56A1-98F1-1C97-4E46172CC55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/>
              <a:t>Cliquez pour modifier les styles du texte du masque</a:t>
            </a:r>
          </a:p>
          <a:p>
            <a:pPr lvl="1"/>
            <a:r>
              <a:rPr lang="fr-FR" altLang="fr-FR"/>
              <a:t>Deuxième niveau</a:t>
            </a:r>
          </a:p>
          <a:p>
            <a:pPr lvl="2"/>
            <a:r>
              <a:rPr lang="fr-FR" altLang="fr-FR"/>
              <a:t>Troisième niveau</a:t>
            </a:r>
          </a:p>
          <a:p>
            <a:pPr lvl="3"/>
            <a:r>
              <a:rPr lang="fr-FR" altLang="fr-FR"/>
              <a:t>Quatrième niveau</a:t>
            </a:r>
          </a:p>
          <a:p>
            <a:pPr lvl="4"/>
            <a:r>
              <a:rPr lang="fr-FR" alt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56BA3B0-BD25-AAEA-DB49-7FC282A43ED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E0B9AF5D-F7DB-43D2-82D9-8197AA412297}" type="datetimeFigureOut">
              <a:rPr lang="fr-FR"/>
              <a:pPr>
                <a:defRPr/>
              </a:pPr>
              <a:t>17/05/2024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A3603DD-B075-5C55-2215-CD1B6AFFDD2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958EA72-ED16-0C39-8E48-A987449DF9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7178FD35-FDBE-46D2-B7D5-50F710661F74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0F565FB3-9137-6CFF-7AEF-A45C77908C34}"/>
              </a:ext>
            </a:extLst>
          </p:cNvPr>
          <p:cNvSpPr/>
          <p:nvPr/>
        </p:nvSpPr>
        <p:spPr>
          <a:xfrm rot="10800000">
            <a:off x="0" y="0"/>
            <a:ext cx="8702675" cy="2228850"/>
          </a:xfrm>
          <a:custGeom>
            <a:avLst/>
            <a:gdLst>
              <a:gd name="connsiteX0" fmla="*/ 3388058 w 3388208"/>
              <a:gd name="connsiteY0" fmla="*/ 0 h 3406341"/>
              <a:gd name="connsiteX1" fmla="*/ 3388208 w 3388208"/>
              <a:gd name="connsiteY1" fmla="*/ 0 h 3406341"/>
              <a:gd name="connsiteX2" fmla="*/ 3388208 w 3388208"/>
              <a:gd name="connsiteY2" fmla="*/ 3406341 h 3406341"/>
              <a:gd name="connsiteX3" fmla="*/ 0 w 3388208"/>
              <a:gd name="connsiteY3" fmla="*/ 3406341 h 3406341"/>
              <a:gd name="connsiteX4" fmla="*/ 79006 w 3388208"/>
              <a:gd name="connsiteY4" fmla="*/ 3404386 h 3406341"/>
              <a:gd name="connsiteX5" fmla="*/ 3383947 w 3388208"/>
              <a:gd name="connsiteY5" fmla="*/ 164274 h 3406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388208" h="3406341">
                <a:moveTo>
                  <a:pt x="3388058" y="0"/>
                </a:moveTo>
                <a:lnTo>
                  <a:pt x="3388208" y="0"/>
                </a:lnTo>
                <a:lnTo>
                  <a:pt x="3388208" y="3406341"/>
                </a:lnTo>
                <a:lnTo>
                  <a:pt x="0" y="3406341"/>
                </a:lnTo>
                <a:lnTo>
                  <a:pt x="79006" y="3404386"/>
                </a:lnTo>
                <a:cubicBezTo>
                  <a:pt x="1864742" y="3315784"/>
                  <a:pt x="3296223" y="1912901"/>
                  <a:pt x="3383947" y="164274"/>
                </a:cubicBezTo>
                <a:close/>
              </a:path>
            </a:pathLst>
          </a:custGeom>
          <a:solidFill>
            <a:schemeClr val="tx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055" name="Espace réservé du titre 1">
            <a:extLst>
              <a:ext uri="{FF2B5EF4-FFF2-40B4-BE49-F238E27FC236}">
                <a16:creationId xmlns:a16="http://schemas.microsoft.com/office/drawing/2014/main" id="{54A1CECC-E4D7-D57C-84C3-4C9E70401B2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341438" y="136525"/>
            <a:ext cx="10515600" cy="636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/>
              <a:t>Modifiez le style du titre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7" r:id="rId1"/>
    <p:sldLayoutId id="2147483738" r:id="rId2"/>
    <p:sldLayoutId id="2147483739" r:id="rId3"/>
    <p:sldLayoutId id="2147483740" r:id="rId4"/>
    <p:sldLayoutId id="2147483741" r:id="rId5"/>
    <p:sldLayoutId id="2147483742" r:id="rId6"/>
    <p:sldLayoutId id="2147483743" r:id="rId7"/>
    <p:sldLayoutId id="2147483744" r:id="rId8"/>
    <p:sldLayoutId id="2147483745" r:id="rId9"/>
    <p:sldLayoutId id="2147483746" r:id="rId10"/>
    <p:sldLayoutId id="2147483747" r:id="rId11"/>
  </p:sldLayoutIdLst>
  <p:txStyles>
    <p:titleStyle>
      <a:lvl1pPr algn="l" rtl="0" fontAlgn="base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2pPr>
      <a:lvl3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3pPr>
      <a:lvl4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4pPr>
      <a:lvl5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228600" indent="-228600" algn="l" rtl="0" fontAlgn="base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5A2E2039-9447-B56D-BBED-27042F09581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3"/>
            </p:custDataLst>
            <p:extLst>
              <p:ext uri="{D42A27DB-BD31-4B8C-83A1-F6EECF244321}">
                <p14:modId xmlns:p14="http://schemas.microsoft.com/office/powerpoint/2010/main" val="168543532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e think-cell" r:id="rId14" imgW="415" imgH="416" progId="TCLayout.ActiveDocument.1">
                  <p:embed/>
                </p:oleObj>
              </mc:Choice>
              <mc:Fallback>
                <p:oleObj name="Diapositive think-cell" r:id="rId14" imgW="415" imgH="416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A2E2039-9447-B56D-BBED-27042F09581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4" name="Espace réservé du titre 1">
            <a:extLst>
              <a:ext uri="{FF2B5EF4-FFF2-40B4-BE49-F238E27FC236}">
                <a16:creationId xmlns:a16="http://schemas.microsoft.com/office/drawing/2014/main" id="{81528D05-D3AD-7BD7-E8A1-3D3E4D56AC3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/>
              <a:t>Modifiez le style du titre</a:t>
            </a:r>
          </a:p>
        </p:txBody>
      </p:sp>
      <p:sp>
        <p:nvSpPr>
          <p:cNvPr id="3075" name="Espace réservé du texte 2">
            <a:extLst>
              <a:ext uri="{FF2B5EF4-FFF2-40B4-BE49-F238E27FC236}">
                <a16:creationId xmlns:a16="http://schemas.microsoft.com/office/drawing/2014/main" id="{EA24E6FB-3891-8C39-0923-A8A44CEE758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/>
              <a:t>Cliquez pour modifier les styles du texte du masque</a:t>
            </a:r>
          </a:p>
          <a:p>
            <a:pPr lvl="1"/>
            <a:r>
              <a:rPr lang="fr-FR" altLang="fr-FR"/>
              <a:t>Deuxième niveau</a:t>
            </a:r>
          </a:p>
          <a:p>
            <a:pPr lvl="2"/>
            <a:r>
              <a:rPr lang="fr-FR" altLang="fr-FR"/>
              <a:t>Troisième niveau</a:t>
            </a:r>
          </a:p>
          <a:p>
            <a:pPr lvl="3"/>
            <a:r>
              <a:rPr lang="fr-FR" altLang="fr-FR"/>
              <a:t>Quatrième niveau</a:t>
            </a:r>
          </a:p>
          <a:p>
            <a:pPr lvl="4"/>
            <a:r>
              <a:rPr lang="fr-FR" alt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941081A-2376-1880-C660-49ED095629F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C225D491-9E67-4D27-84C8-1D8D9C0A3157}" type="datetimeFigureOut">
              <a:rPr lang="fr-FR"/>
              <a:pPr>
                <a:defRPr/>
              </a:pPr>
              <a:t>17/05/2024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3D682D4-EED4-6E59-F646-004E2E9DFD0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C516100-8846-AD81-A7FD-7ED3AE9B752F}"/>
              </a:ext>
            </a:extLst>
          </p:cNvPr>
          <p:cNvSpPr/>
          <p:nvPr/>
        </p:nvSpPr>
        <p:spPr>
          <a:xfrm>
            <a:off x="8670925" y="4756150"/>
            <a:ext cx="3521075" cy="2101850"/>
          </a:xfrm>
          <a:custGeom>
            <a:avLst/>
            <a:gdLst>
              <a:gd name="connsiteX0" fmla="*/ 3388058 w 3388208"/>
              <a:gd name="connsiteY0" fmla="*/ 0 h 3406341"/>
              <a:gd name="connsiteX1" fmla="*/ 3388208 w 3388208"/>
              <a:gd name="connsiteY1" fmla="*/ 0 h 3406341"/>
              <a:gd name="connsiteX2" fmla="*/ 3388208 w 3388208"/>
              <a:gd name="connsiteY2" fmla="*/ 3406341 h 3406341"/>
              <a:gd name="connsiteX3" fmla="*/ 0 w 3388208"/>
              <a:gd name="connsiteY3" fmla="*/ 3406341 h 3406341"/>
              <a:gd name="connsiteX4" fmla="*/ 79006 w 3388208"/>
              <a:gd name="connsiteY4" fmla="*/ 3404386 h 3406341"/>
              <a:gd name="connsiteX5" fmla="*/ 3383947 w 3388208"/>
              <a:gd name="connsiteY5" fmla="*/ 164274 h 3406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388208" h="3406341">
                <a:moveTo>
                  <a:pt x="3388058" y="0"/>
                </a:moveTo>
                <a:lnTo>
                  <a:pt x="3388208" y="0"/>
                </a:lnTo>
                <a:lnTo>
                  <a:pt x="3388208" y="3406341"/>
                </a:lnTo>
                <a:lnTo>
                  <a:pt x="0" y="3406341"/>
                </a:lnTo>
                <a:lnTo>
                  <a:pt x="79006" y="3404386"/>
                </a:lnTo>
                <a:cubicBezTo>
                  <a:pt x="1864742" y="3315784"/>
                  <a:pt x="3296223" y="1912901"/>
                  <a:pt x="3383947" y="164274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0D52F31-C1BD-C592-BAE9-1DD1E6FC57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A99B44F3-53A7-4833-82D1-D37A9EB1A924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50" r:id="rId3"/>
    <p:sldLayoutId id="2147483751" r:id="rId4"/>
    <p:sldLayoutId id="2147483752" r:id="rId5"/>
    <p:sldLayoutId id="2147483753" r:id="rId6"/>
    <p:sldLayoutId id="2147483754" r:id="rId7"/>
    <p:sldLayoutId id="2147483755" r:id="rId8"/>
    <p:sldLayoutId id="2147483756" r:id="rId9"/>
    <p:sldLayoutId id="2147483757" r:id="rId10"/>
    <p:sldLayoutId id="2147483758" r:id="rId11"/>
  </p:sldLayoutIdLst>
  <p:txStyles>
    <p:titleStyle>
      <a:lvl1pPr algn="l" rtl="0" fontAlgn="base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2pPr>
      <a:lvl3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3pPr>
      <a:lvl4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4pPr>
      <a:lvl5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228600" indent="-228600" algn="l" rtl="0" fontAlgn="base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mailto:orit.bellity@sgeieg.fr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Relationship Id="rId4" Type="http://schemas.openxmlformats.org/officeDocument/2006/relationships/image" Target="../media/image1.emf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Relationship Id="rId5" Type="http://schemas.openxmlformats.org/officeDocument/2006/relationships/image" Target="../media/image3.emf"/><Relationship Id="rId4" Type="http://schemas.openxmlformats.org/officeDocument/2006/relationships/image" Target="../media/image1.emf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svg"/><Relationship Id="rId3" Type="http://schemas.openxmlformats.org/officeDocument/2006/relationships/diagramLayout" Target="../diagrams/layout1.xml"/><Relationship Id="rId7" Type="http://schemas.openxmlformats.org/officeDocument/2006/relationships/image" Target="../media/image4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oleObject" Target="../embeddings/oleObject6.bin"/><Relationship Id="rId7" Type="http://schemas.openxmlformats.org/officeDocument/2006/relationships/image" Target="../media/image8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1.e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F6959FB-4BAC-463C-5C83-C7D0C6EFAC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48076" y="2001057"/>
            <a:ext cx="9144000" cy="3301591"/>
          </a:xfrm>
        </p:spPr>
        <p:txBody>
          <a:bodyPr/>
          <a:lstStyle/>
          <a:p>
            <a:br>
              <a:rPr lang="fr-FR" dirty="0"/>
            </a:br>
            <a:br>
              <a:rPr lang="fr-FR" dirty="0"/>
            </a:br>
            <a:br>
              <a:rPr lang="fr-FR" dirty="0"/>
            </a:br>
            <a:br>
              <a:rPr lang="fr-FR" dirty="0"/>
            </a:br>
            <a:br>
              <a:rPr lang="fr-FR" dirty="0"/>
            </a:br>
            <a:br>
              <a:rPr lang="fr-FR" dirty="0"/>
            </a:br>
            <a:br>
              <a:rPr lang="fr-FR" dirty="0"/>
            </a:br>
            <a:r>
              <a:rPr lang="fr-FR" dirty="0"/>
              <a:t>Kit de déploiement</a:t>
            </a:r>
            <a:br>
              <a:rPr lang="fr-FR" dirty="0"/>
            </a:br>
            <a:br>
              <a:rPr lang="fr-FR" dirty="0"/>
            </a:br>
            <a:r>
              <a:rPr lang="fr-FR" dirty="0"/>
              <a:t>Accord Expérimental </a:t>
            </a:r>
            <a:br>
              <a:rPr lang="fr-FR" dirty="0"/>
            </a:br>
            <a:r>
              <a:rPr lang="fr-FR" dirty="0"/>
              <a:t>relatif à la discipline</a:t>
            </a:r>
            <a:br>
              <a:rPr lang="fr-FR" dirty="0"/>
            </a:br>
            <a:br>
              <a:rPr lang="fr-FR" dirty="0"/>
            </a:br>
            <a:r>
              <a:rPr lang="fr-FR" sz="2400" dirty="0"/>
              <a:t>Version du 17 mai 2024</a:t>
            </a:r>
          </a:p>
        </p:txBody>
      </p:sp>
    </p:spTree>
    <p:extLst>
      <p:ext uri="{BB962C8B-B14F-4D97-AF65-F5344CB8AC3E}">
        <p14:creationId xmlns:p14="http://schemas.microsoft.com/office/powerpoint/2010/main" val="22133953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20AE91E-337E-C7B2-370D-7B3367A06F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8559"/>
            <a:ext cx="10515600" cy="739716"/>
          </a:xfrm>
        </p:spPr>
        <p:txBody>
          <a:bodyPr/>
          <a:lstStyle/>
          <a:p>
            <a:r>
              <a:rPr lang="fr-FR" dirty="0"/>
              <a:t>Sommaire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18F90B51-A3DD-F45E-F3EF-C33B9142EF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4489" y="888275"/>
            <a:ext cx="12026537" cy="4351338"/>
          </a:xfrm>
        </p:spPr>
        <p:txBody>
          <a:bodyPr/>
          <a:lstStyle/>
          <a:p>
            <a:pPr marL="514350" indent="-514350">
              <a:buAutoNum type="arabicPeriod"/>
            </a:pPr>
            <a:r>
              <a:rPr lang="fr-FR" dirty="0"/>
              <a:t>Contexte</a:t>
            </a:r>
          </a:p>
          <a:p>
            <a:pPr marL="514350" indent="-514350">
              <a:buAutoNum type="arabicPeriod"/>
            </a:pPr>
            <a:r>
              <a:rPr lang="fr-FR" dirty="0"/>
              <a:t>Les 4 grandes mesures prévues par l’accord expérimental</a:t>
            </a:r>
          </a:p>
          <a:p>
            <a:pPr marL="514350" indent="-514350">
              <a:buAutoNum type="arabicPeriod"/>
            </a:pPr>
            <a:r>
              <a:rPr lang="fr-FR" dirty="0"/>
              <a:t>Dates de mise en œuvre des mesures</a:t>
            </a:r>
          </a:p>
          <a:p>
            <a:pPr marL="514350" indent="-514350">
              <a:buAutoNum type="arabicPeriod"/>
            </a:pPr>
            <a:r>
              <a:rPr lang="fr-FR" sz="2800" dirty="0"/>
              <a:t>Assouplissement de la condition de GF</a:t>
            </a:r>
          </a:p>
          <a:p>
            <a:pPr marL="514350" indent="-514350">
              <a:buAutoNum type="arabicPeriod"/>
            </a:pPr>
            <a:r>
              <a:rPr lang="fr-FR" sz="2800" kern="100" dirty="0">
                <a:effectLst/>
              </a:rPr>
              <a:t>Suppression de la condition d’appartenance du rapporteur en CSP ou en CSNP</a:t>
            </a:r>
          </a:p>
          <a:p>
            <a:pPr marL="514350" indent="-514350">
              <a:buAutoNum type="arabicPeriod"/>
            </a:pPr>
            <a:r>
              <a:rPr lang="fr-FR" sz="2800" dirty="0"/>
              <a:t>Mise à disposition du d</a:t>
            </a:r>
            <a:r>
              <a:rPr lang="fr-FR" sz="2800" kern="100" dirty="0">
                <a:effectLst/>
              </a:rPr>
              <a:t>ossier sous forme numérique</a:t>
            </a:r>
          </a:p>
          <a:p>
            <a:pPr marL="514350" indent="-514350">
              <a:buAutoNum type="arabicPeriod"/>
            </a:pPr>
            <a:r>
              <a:rPr lang="fr-FR" sz="2800" kern="100" dirty="0">
                <a:effectLst/>
              </a:rPr>
              <a:t>Révision du dispositif de recours</a:t>
            </a:r>
          </a:p>
          <a:p>
            <a:pPr marL="514350" indent="-514350">
              <a:buAutoNum type="arabicPeriod"/>
            </a:pPr>
            <a:r>
              <a:rPr lang="fr-FR" sz="2800" kern="100" dirty="0">
                <a:effectLst/>
              </a:rPr>
              <a:t>Les délais applicables au traitement d’un dossier</a:t>
            </a:r>
          </a:p>
          <a:p>
            <a:pPr marL="514350" indent="-514350">
              <a:buAutoNum type="arabicPeriod"/>
            </a:pPr>
            <a:r>
              <a:rPr lang="fr-FR" kern="100" dirty="0"/>
              <a:t>Suivi de l’accord</a:t>
            </a:r>
          </a:p>
          <a:p>
            <a:pPr marL="514350" indent="-514350">
              <a:buAutoNum type="arabicPeriod"/>
            </a:pPr>
            <a:r>
              <a:rPr lang="fr-FR" kern="100" dirty="0"/>
              <a:t> Les documents à votre disposition</a:t>
            </a:r>
          </a:p>
          <a:p>
            <a:pPr marL="0" indent="0">
              <a:buNone/>
            </a:pPr>
            <a:r>
              <a:rPr lang="fr-FR" kern="100" dirty="0"/>
              <a:t>Annexes : logigrammes des voies de recours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2872253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20AE91E-337E-C7B2-370D-7B3367A06F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4954" y="0"/>
            <a:ext cx="10515600" cy="852928"/>
          </a:xfrm>
        </p:spPr>
        <p:txBody>
          <a:bodyPr/>
          <a:lstStyle/>
          <a:p>
            <a:r>
              <a:rPr lang="fr-FR" dirty="0"/>
              <a:t>1. Contexte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6EB8EDE-5431-360C-9043-8FC03410E3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9139" y="900313"/>
            <a:ext cx="11693721" cy="4187960"/>
          </a:xfrm>
        </p:spPr>
        <p:txBody>
          <a:bodyPr/>
          <a:lstStyle/>
          <a:p>
            <a:r>
              <a:rPr lang="fr-FR" sz="2200" b="1" dirty="0"/>
              <a:t>L’accord Dialogue Social de Branche (2021 – 2025)</a:t>
            </a:r>
            <a:r>
              <a:rPr lang="fr-FR" sz="2200" dirty="0"/>
              <a:t> prévoit notamment de faire évoluer le corpus social historique. La voie de l’accord d’expérimentation a été introduite comme un moyen possible pour faire évoluer des textes historiques, profondément ancrés dans l’histoire des IEG</a:t>
            </a:r>
          </a:p>
          <a:p>
            <a:endParaRPr lang="fr-FR" sz="2200" dirty="0"/>
          </a:p>
          <a:p>
            <a:r>
              <a:rPr lang="fr-FR" sz="2200" dirty="0"/>
              <a:t>Les employeurs et les fédérations ont souhaité tester cette nouvelle voie </a:t>
            </a:r>
            <a:r>
              <a:rPr lang="fr-FR" sz="2200" b="1" dirty="0"/>
              <a:t>pour améliorer l’efficience de la filière CSP </a:t>
            </a:r>
            <a:r>
              <a:rPr lang="fr-FR" sz="2200" dirty="0"/>
              <a:t>(y compris la filière CSNP de la branche des IEG). Des travaux ont été menés à cet effet durant pratiquement un an entre les fédérations et les représentants employeurs</a:t>
            </a:r>
          </a:p>
          <a:p>
            <a:endParaRPr lang="fr-FR" sz="2200" dirty="0"/>
          </a:p>
          <a:p>
            <a:r>
              <a:rPr lang="fr-FR" sz="2200" dirty="0"/>
              <a:t>Ces travaux ont abouti à la </a:t>
            </a:r>
            <a:r>
              <a:rPr lang="fr-FR" sz="2200" b="1" dirty="0"/>
              <a:t>signature unanime d’un accord expérimental le 5 avril 2024</a:t>
            </a:r>
            <a:r>
              <a:rPr lang="fr-FR" sz="2200" dirty="0"/>
              <a:t>, pour une durée de 3 ans, dont la mise en œuvre est prévue à compter du 1</a:t>
            </a:r>
            <a:r>
              <a:rPr lang="fr-FR" sz="2200" baseline="30000" dirty="0"/>
              <a:t>er</a:t>
            </a:r>
            <a:r>
              <a:rPr lang="fr-FR" sz="2200" dirty="0"/>
              <a:t> juin 2024. </a:t>
            </a:r>
            <a:r>
              <a:rPr lang="fr-FR" sz="2200" b="1" dirty="0"/>
              <a:t>Durant cette période, certaines modalités de la Pers 846 sont « mises en sommeil » pour toutes les entreprises adhérentes à un syndicat d’employeurs</a:t>
            </a:r>
            <a:r>
              <a:rPr lang="fr-FR" sz="2200" dirty="0"/>
              <a:t>.  En cas de doute, contacter le SGE (</a:t>
            </a:r>
            <a:r>
              <a:rPr lang="fr-FR" sz="2200" dirty="0">
                <a:hlinkClick r:id="rId2"/>
              </a:rPr>
              <a:t>orit.bellity@sgeieg.fr</a:t>
            </a:r>
            <a:r>
              <a:rPr lang="fr-FR" sz="2200" dirty="0"/>
              <a:t>) avant d’initier toute procédure disciplinaire</a:t>
            </a:r>
          </a:p>
          <a:p>
            <a:endParaRPr lang="fr-FR" sz="2200" dirty="0">
              <a:highlight>
                <a:srgbClr val="FFFF00"/>
              </a:highlight>
            </a:endParaRPr>
          </a:p>
          <a:p>
            <a:r>
              <a:rPr lang="fr-FR" sz="2200" dirty="0"/>
              <a:t>A l’issue de l’accord expérimental, et du bilan qui en sera tiré, il sera décidé la généralisation de ces nouvelles dispositions par la voie d’une négociation d’un accord à durée indéterminée, qui mettrait fin à la Pers 846, soit  d’un retour à la Pers 846 dans son intégralité</a:t>
            </a:r>
          </a:p>
          <a:p>
            <a:endParaRPr lang="fr-FR" sz="2400" dirty="0"/>
          </a:p>
        </p:txBody>
      </p:sp>
    </p:spTree>
    <p:extLst>
      <p:ext uri="{BB962C8B-B14F-4D97-AF65-F5344CB8AC3E}">
        <p14:creationId xmlns:p14="http://schemas.microsoft.com/office/powerpoint/2010/main" val="13935434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20AE91E-337E-C7B2-370D-7B3367A06F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8559"/>
            <a:ext cx="10515600" cy="852928"/>
          </a:xfrm>
        </p:spPr>
        <p:txBody>
          <a:bodyPr/>
          <a:lstStyle/>
          <a:p>
            <a:r>
              <a:rPr lang="fr-FR" dirty="0"/>
              <a:t>2. Les 4 grandes mesures prévues par l’accord expérimental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6EB8EDE-5431-360C-9043-8FC03410E3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7022" y="1569721"/>
            <a:ext cx="11474116" cy="4342564"/>
          </a:xfrm>
        </p:spPr>
        <p:txBody>
          <a:bodyPr/>
          <a:lstStyle/>
          <a:p>
            <a:pPr lvl="0" algn="just">
              <a:lnSpc>
                <a:spcPct val="107000"/>
              </a:lnSpc>
              <a:tabLst>
                <a:tab pos="4210050" algn="l"/>
              </a:tabLst>
            </a:pPr>
            <a:r>
              <a:rPr lang="fr-FR" sz="22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Assouplissement de la</a:t>
            </a:r>
            <a:r>
              <a:rPr lang="fr-FR" sz="2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22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condition de Groupe Fonctionnel</a:t>
            </a:r>
            <a:r>
              <a:rPr lang="fr-FR" sz="2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(GF) pour les représentants du personnel de la Commission Secondaire du Personnel statuant en matière de discipline et en Sous-commission discipline de la Commission Supérieure Nationale du Personnel </a:t>
            </a:r>
          </a:p>
          <a:p>
            <a:pPr lvl="0" algn="just">
              <a:lnSpc>
                <a:spcPct val="107000"/>
              </a:lnSpc>
              <a:tabLst>
                <a:tab pos="4210050" algn="l"/>
              </a:tabLst>
            </a:pPr>
            <a:r>
              <a:rPr lang="fr-FR" sz="22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Suppression de la condition d’appartenance du rapporteur</a:t>
            </a:r>
            <a:r>
              <a:rPr lang="fr-FR" sz="22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22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à la </a:t>
            </a:r>
            <a:r>
              <a:rPr lang="fr-FR" sz="2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Commission Secondaire du Personnel siégeant en matière de discipline</a:t>
            </a:r>
          </a:p>
          <a:p>
            <a:pPr lvl="0" algn="just">
              <a:lnSpc>
                <a:spcPct val="107000"/>
              </a:lnSpc>
              <a:tabLst>
                <a:tab pos="4210050" algn="l"/>
              </a:tabLst>
            </a:pPr>
            <a:r>
              <a:rPr lang="fr-FR" sz="2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Renforcement des droits du salarié</a:t>
            </a:r>
            <a:r>
              <a:rPr lang="fr-FR" sz="2200" baseline="30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2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par la mise à disposition du </a:t>
            </a:r>
            <a:r>
              <a:rPr lang="fr-FR" sz="22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dossier disciplinaire sous forme numérique</a:t>
            </a:r>
          </a:p>
          <a:p>
            <a:pPr lvl="0" algn="just">
              <a:lnSpc>
                <a:spcPct val="107000"/>
              </a:lnSpc>
              <a:spcAft>
                <a:spcPts val="800"/>
              </a:spcAft>
              <a:tabLst>
                <a:tab pos="4210050" algn="l"/>
              </a:tabLst>
            </a:pPr>
            <a:r>
              <a:rPr lang="fr-FR" sz="22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Révision du dispositif de recours</a:t>
            </a:r>
            <a:r>
              <a:rPr lang="fr-FR" sz="2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auprès de la filière Commission Secondaire du Personnel en matière disciplinaire et des modalités de saisine de la Commission Nationale Supérieure du Personnel</a:t>
            </a:r>
          </a:p>
          <a:p>
            <a:pPr marL="0" indent="0" algn="just">
              <a:lnSpc>
                <a:spcPct val="107000"/>
              </a:lnSpc>
              <a:spcAft>
                <a:spcPts val="800"/>
              </a:spcAft>
              <a:buNone/>
              <a:tabLst>
                <a:tab pos="4210050" algn="l"/>
              </a:tabLst>
            </a:pPr>
            <a:endParaRPr lang="fr-FR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fr-FR" sz="2400" dirty="0"/>
          </a:p>
        </p:txBody>
      </p:sp>
    </p:spTree>
    <p:extLst>
      <p:ext uri="{BB962C8B-B14F-4D97-AF65-F5344CB8AC3E}">
        <p14:creationId xmlns:p14="http://schemas.microsoft.com/office/powerpoint/2010/main" val="6009643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5D1E79CC-3C12-6DCA-C5D9-6D861EDB5560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15353091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e think-cell" r:id="rId3" imgW="415" imgH="416" progId="TCLayout.ActiveDocument.1">
                  <p:embed/>
                </p:oleObj>
              </mc:Choice>
              <mc:Fallback>
                <p:oleObj name="Diapositive think-cell" r:id="rId3" imgW="415" imgH="416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D1E79CC-3C12-6DCA-C5D9-6D861EDB556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re 1">
            <a:extLst>
              <a:ext uri="{FF2B5EF4-FFF2-40B4-BE49-F238E27FC236}">
                <a16:creationId xmlns:a16="http://schemas.microsoft.com/office/drawing/2014/main" id="{6059F783-3E1F-A9C9-8174-7588D7CB60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38100"/>
            <a:ext cx="10515600" cy="1024249"/>
          </a:xfrm>
        </p:spPr>
        <p:txBody>
          <a:bodyPr vert="horz"/>
          <a:lstStyle/>
          <a:p>
            <a:r>
              <a:rPr lang="fr-FR" dirty="0"/>
              <a:t>3. Dates de mise en œuvre des mesures</a:t>
            </a:r>
            <a:br>
              <a:rPr lang="fr-FR" dirty="0"/>
            </a:br>
            <a:endParaRPr lang="fr-FR" sz="2000" b="1" dirty="0">
              <a:solidFill>
                <a:srgbClr val="FF0000"/>
              </a:solidFill>
            </a:endParaRPr>
          </a:p>
        </p:txBody>
      </p:sp>
      <p:sp>
        <p:nvSpPr>
          <p:cNvPr id="10" name="Espace réservé du contenu 2">
            <a:extLst>
              <a:ext uri="{FF2B5EF4-FFF2-40B4-BE49-F238E27FC236}">
                <a16:creationId xmlns:a16="http://schemas.microsoft.com/office/drawing/2014/main" id="{733B6C46-B4CA-366C-1A14-D286800B3984}"/>
              </a:ext>
            </a:extLst>
          </p:cNvPr>
          <p:cNvSpPr txBox="1">
            <a:spLocks/>
          </p:cNvSpPr>
          <p:nvPr/>
        </p:nvSpPr>
        <p:spPr bwMode="auto">
          <a:xfrm>
            <a:off x="556024" y="648918"/>
            <a:ext cx="11474116" cy="806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eaLnBrk="1" fontAlgn="base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fr-FR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Sont concernés par l’accord expérimental les dossiers dont </a:t>
            </a:r>
            <a:r>
              <a:rPr lang="fr-FR" sz="20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la procédure disciplinaire commence </a:t>
            </a:r>
            <a:r>
              <a:rPr lang="fr-FR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pendant la période d’expérimentation de l’accord, </a:t>
            </a:r>
            <a:r>
              <a:rPr lang="fr-FR" sz="20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soit du 1</a:t>
            </a:r>
            <a:r>
              <a:rPr lang="fr-FR" sz="2000" b="1" kern="100" baseline="30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er</a:t>
            </a:r>
            <a:r>
              <a:rPr lang="fr-FR" sz="20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juin 2024 au 31 mai 2027. Pendant quelques temps</a:t>
            </a:r>
            <a:r>
              <a:rPr lang="fr-FR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deux types de procédures vont donc cohabiter (soit Pers 846, soit accord expérimental). </a:t>
            </a:r>
            <a:r>
              <a:rPr lang="fr-FR" sz="20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Il est recommandé que le Président rappelle en début de séance quel texte réglementaire régit le process disciplinaire (tout comme cela </a:t>
            </a:r>
            <a:r>
              <a:rPr lang="fr-FR" sz="2000" b="1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doit être </a:t>
            </a:r>
            <a:r>
              <a:rPr lang="fr-FR" sz="20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rappelé da</a:t>
            </a:r>
            <a:r>
              <a:rPr lang="fr-FR" sz="2000" b="1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ns la lettre de convocation à l’EP1)</a:t>
            </a:r>
            <a:endParaRPr lang="fr-FR" sz="2000" b="1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fr-FR" sz="20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La date </a:t>
            </a:r>
            <a:r>
              <a:rPr lang="fr-FR" sz="2000" b="1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de </a:t>
            </a:r>
            <a:r>
              <a:rPr lang="fr-FR" sz="20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commencement de la procédure disciplinaire est la date de réception du courrier de convocation à l’Entretien Préalable n° 1 par le salarié </a:t>
            </a:r>
            <a:r>
              <a:rPr lang="fr-FR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(courrier reçu en main propre contre signature ou date de 1</a:t>
            </a:r>
            <a:r>
              <a:rPr lang="fr-FR" sz="2000" kern="100" baseline="30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ère</a:t>
            </a:r>
            <a:r>
              <a:rPr lang="fr-FR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présentation de la LRAR)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fr-FR" sz="20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L’accord prévoit que certaines mesures ne soient pas mises en œuvre immédiatement au 1</a:t>
            </a:r>
            <a:r>
              <a:rPr lang="fr-FR" sz="2000" kern="100" baseline="30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er</a:t>
            </a:r>
            <a:r>
              <a:rPr lang="fr-FR" sz="20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juin 2024 mais selon un calendrier  </a:t>
            </a:r>
            <a:endParaRPr lang="fr-FR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lvl="1" indent="0">
              <a:buFont typeface="Arial" panose="020B0604020202020204" pitchFamily="34" charset="0"/>
              <a:buNone/>
            </a:pPr>
            <a:endParaRPr lang="fr-FR" sz="2000" dirty="0"/>
          </a:p>
        </p:txBody>
      </p:sp>
      <p:graphicFrame>
        <p:nvGraphicFramePr>
          <p:cNvPr id="3" name="Tableau 2">
            <a:extLst>
              <a:ext uri="{FF2B5EF4-FFF2-40B4-BE49-F238E27FC236}">
                <a16:creationId xmlns:a16="http://schemas.microsoft.com/office/drawing/2014/main" id="{2A77267D-6C4D-FFF5-3D96-79C5532CF7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6391131"/>
              </p:ext>
            </p:extLst>
          </p:nvPr>
        </p:nvGraphicFramePr>
        <p:xfrm>
          <a:off x="461680" y="3559629"/>
          <a:ext cx="11568460" cy="302217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239133">
                  <a:extLst>
                    <a:ext uri="{9D8B030D-6E8A-4147-A177-3AD203B41FA5}">
                      <a16:colId xmlns:a16="http://schemas.microsoft.com/office/drawing/2014/main" val="3291507771"/>
                    </a:ext>
                  </a:extLst>
                </a:gridCol>
                <a:gridCol w="6329327">
                  <a:extLst>
                    <a:ext uri="{9D8B030D-6E8A-4147-A177-3AD203B41FA5}">
                      <a16:colId xmlns:a16="http://schemas.microsoft.com/office/drawing/2014/main" val="2471903434"/>
                    </a:ext>
                  </a:extLst>
                </a:gridCol>
              </a:tblGrid>
              <a:tr h="347322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2000" kern="100" dirty="0">
                          <a:effectLst/>
                        </a:rPr>
                        <a:t>Mesure</a:t>
                      </a:r>
                      <a:endParaRPr lang="fr-FR" sz="20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2493" marR="32493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2000" kern="100" dirty="0">
                          <a:effectLst/>
                        </a:rPr>
                        <a:t>Date ou délai de mise en </a:t>
                      </a:r>
                      <a:r>
                        <a:rPr lang="fr-FR" sz="2000" kern="100" dirty="0" err="1">
                          <a:effectLst/>
                        </a:rPr>
                        <a:t>oeuvre</a:t>
                      </a:r>
                      <a:endParaRPr lang="fr-FR" sz="20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2493" marR="32493" marT="0" marB="0"/>
                </a:tc>
                <a:extLst>
                  <a:ext uri="{0D108BD9-81ED-4DB2-BD59-A6C34878D82A}">
                    <a16:rowId xmlns:a16="http://schemas.microsoft.com/office/drawing/2014/main" val="2570569903"/>
                  </a:ext>
                </a:extLst>
              </a:tr>
              <a:tr h="532737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800" kern="100" dirty="0">
                          <a:effectLst/>
                          <a:latin typeface="+mn-lt"/>
                        </a:rPr>
                        <a:t>  Assouplissement de la condition de GF</a:t>
                      </a:r>
                      <a:endParaRPr lang="fr-FR" sz="1800" kern="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2493" marR="32493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1800" b="1" kern="100" dirty="0">
                          <a:effectLst/>
                          <a:latin typeface="+mn-lt"/>
                        </a:rPr>
                        <a:t>Immédiate</a:t>
                      </a:r>
                      <a:r>
                        <a:rPr lang="fr-FR" sz="1800" kern="100" dirty="0">
                          <a:effectLst/>
                          <a:latin typeface="+mn-lt"/>
                        </a:rPr>
                        <a:t>, à compter du </a:t>
                      </a:r>
                      <a:r>
                        <a:rPr lang="fr-FR" sz="1800" b="1" kern="100" dirty="0">
                          <a:effectLst/>
                          <a:latin typeface="+mn-lt"/>
                        </a:rPr>
                        <a:t>01/06/24</a:t>
                      </a:r>
                      <a:endParaRPr lang="fr-FR" sz="1800" b="1" kern="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2493" marR="32493" marT="0" marB="0"/>
                </a:tc>
                <a:extLst>
                  <a:ext uri="{0D108BD9-81ED-4DB2-BD59-A6C34878D82A}">
                    <a16:rowId xmlns:a16="http://schemas.microsoft.com/office/drawing/2014/main" val="381480259"/>
                  </a:ext>
                </a:extLst>
              </a:tr>
              <a:tr h="613193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800" kern="100" dirty="0">
                          <a:effectLst/>
                          <a:latin typeface="+mn-lt"/>
                        </a:rPr>
                        <a:t>Suppression de la condition d’appartenance du rapporteur en CSP ou en CSNP</a:t>
                      </a:r>
                      <a:endParaRPr lang="fr-FR" sz="1800" kern="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2493" marR="32493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1800" kern="100" dirty="0">
                          <a:effectLst/>
                          <a:latin typeface="+mn-lt"/>
                        </a:rPr>
                        <a:t>Dans l’année de signature de l’accord, 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1800" b="1" kern="100" dirty="0">
                          <a:effectLst/>
                          <a:latin typeface="+mn-lt"/>
                        </a:rPr>
                        <a:t>d’ici le 31/12/2024</a:t>
                      </a:r>
                      <a:endParaRPr lang="fr-FR" sz="1800" b="1" kern="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2493" marR="32493" marT="0" marB="0"/>
                </a:tc>
                <a:extLst>
                  <a:ext uri="{0D108BD9-81ED-4DB2-BD59-A6C34878D82A}">
                    <a16:rowId xmlns:a16="http://schemas.microsoft.com/office/drawing/2014/main" val="4269896937"/>
                  </a:ext>
                </a:extLst>
              </a:tr>
              <a:tr h="72377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800" kern="100" dirty="0">
                          <a:effectLst/>
                          <a:latin typeface="+mn-lt"/>
                        </a:rPr>
                        <a:t>Dossier sous forme numérique</a:t>
                      </a:r>
                      <a:endParaRPr lang="fr-FR" sz="1800" kern="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2493" marR="32493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1800" kern="100" dirty="0">
                          <a:effectLst/>
                          <a:latin typeface="+mn-lt"/>
                        </a:rPr>
                        <a:t>Solution recherchée sous </a:t>
                      </a:r>
                      <a:r>
                        <a:rPr lang="fr-FR" sz="1800" b="1" kern="100" dirty="0">
                          <a:effectLst/>
                          <a:latin typeface="+mn-lt"/>
                        </a:rPr>
                        <a:t>un délai d’un an à compter du 01/06/24 </a:t>
                      </a:r>
                      <a:r>
                        <a:rPr lang="fr-FR" sz="1800" kern="100" dirty="0">
                          <a:effectLst/>
                          <a:latin typeface="+mn-lt"/>
                        </a:rPr>
                        <a:t>dans le cas de dossiers disciplinaires à traiter</a:t>
                      </a:r>
                      <a:endParaRPr lang="fr-FR" sz="1800" kern="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2493" marR="32493" marT="0" marB="0"/>
                </a:tc>
                <a:extLst>
                  <a:ext uri="{0D108BD9-81ED-4DB2-BD59-A6C34878D82A}">
                    <a16:rowId xmlns:a16="http://schemas.microsoft.com/office/drawing/2014/main" val="2196400707"/>
                  </a:ext>
                </a:extLst>
              </a:tr>
              <a:tr h="80515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800" kern="100" dirty="0">
                          <a:effectLst/>
                          <a:latin typeface="+mn-lt"/>
                        </a:rPr>
                        <a:t> Révision du dispositif de recours</a:t>
                      </a:r>
                      <a:endParaRPr lang="fr-FR" sz="1800" kern="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fr-FR" sz="1800" kern="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2493" marR="32493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4210050" algn="l"/>
                        </a:tabLst>
                      </a:pPr>
                      <a:r>
                        <a:rPr lang="fr-FR" sz="1800" kern="100" dirty="0">
                          <a:effectLst/>
                          <a:latin typeface="+mn-lt"/>
                        </a:rPr>
                        <a:t>Requêtes issues de procédures disciplinaires initiées localement dans le cadre de cet accord expérimental, </a:t>
                      </a:r>
                      <a:r>
                        <a:rPr lang="fr-FR" sz="1800" b="1" kern="100" dirty="0">
                          <a:effectLst/>
                          <a:latin typeface="+mn-lt"/>
                        </a:rPr>
                        <a:t>à compter du 01/06/24</a:t>
                      </a:r>
                      <a:endParaRPr lang="fr-FR" sz="1800" kern="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2493" marR="32493" marT="0" marB="0"/>
                </a:tc>
                <a:extLst>
                  <a:ext uri="{0D108BD9-81ED-4DB2-BD59-A6C34878D82A}">
                    <a16:rowId xmlns:a16="http://schemas.microsoft.com/office/drawing/2014/main" val="15665092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154456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D4C0FF8-2CCF-F54D-0AFD-785766C778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9381" y="57982"/>
            <a:ext cx="10515600" cy="811451"/>
          </a:xfrm>
        </p:spPr>
        <p:txBody>
          <a:bodyPr/>
          <a:lstStyle/>
          <a:p>
            <a:r>
              <a:rPr lang="fr-FR" sz="4000" dirty="0"/>
              <a:t>4. Assouplissement de la condition de GF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5D01D28B-B10C-C4D3-F1A0-EA7E288271B6}"/>
              </a:ext>
            </a:extLst>
          </p:cNvPr>
          <p:cNvSpPr txBox="1"/>
          <p:nvPr/>
        </p:nvSpPr>
        <p:spPr>
          <a:xfrm>
            <a:off x="241738" y="1153544"/>
            <a:ext cx="10515600" cy="4816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just">
              <a:lnSpc>
                <a:spcPct val="107000"/>
              </a:lnSpc>
              <a:buFont typeface="Arial" panose="020B0604020202020204" pitchFamily="34" charset="0"/>
              <a:buChar char="•"/>
              <a:tabLst>
                <a:tab pos="4210050" algn="l"/>
              </a:tabLst>
            </a:pPr>
            <a:r>
              <a:rPr lang="fr-FR" sz="24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Cette mesure ne concerne que les représentants des salariés </a:t>
            </a:r>
          </a:p>
          <a:p>
            <a:pPr marL="342900" lvl="0" indent="-342900" algn="just">
              <a:lnSpc>
                <a:spcPct val="107000"/>
              </a:lnSpc>
              <a:buFont typeface="Arial" panose="020B0604020202020204" pitchFamily="34" charset="0"/>
              <a:buChar char="•"/>
              <a:tabLst>
                <a:tab pos="4210050" algn="l"/>
              </a:tabLst>
            </a:pPr>
            <a:endParaRPr lang="fr-FR" sz="24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07000"/>
              </a:lnSpc>
              <a:buFont typeface="Arial" panose="020B0604020202020204" pitchFamily="34" charset="0"/>
              <a:buChar char="•"/>
              <a:tabLst>
                <a:tab pos="4210050" algn="l"/>
              </a:tabLst>
            </a:pPr>
            <a:r>
              <a:rPr lang="fr-FR" sz="2400" b="1" dirty="0">
                <a:ea typeface="Calibri" panose="020F0502020204030204" pitchFamily="34" charset="0"/>
                <a:cs typeface="Times New Roman" panose="02020603050405020304" pitchFamily="18" charset="0"/>
              </a:rPr>
              <a:t>L’accord </a:t>
            </a:r>
            <a:r>
              <a:rPr lang="fr-FR" sz="24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prévoit l’élargissement jusqu’à moins 3 GF au sein du même collège</a:t>
            </a:r>
            <a:r>
              <a:rPr lang="fr-FR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de la condition permettant de siéger en Commission Secondaire du Personnel statuant en matière de discipline et en sous-commission discipline de la Commission Supérieure Nationale du Personnel. La composition de la commission ou sous-commission est alors modifiée en conséquence, la représentation paritaire reste maintenue.</a:t>
            </a:r>
          </a:p>
          <a:p>
            <a:pPr marL="342900" lvl="0" indent="-342900" algn="just">
              <a:lnSpc>
                <a:spcPct val="107000"/>
              </a:lnSpc>
              <a:buFont typeface="Arial" panose="020B0604020202020204" pitchFamily="34" charset="0"/>
              <a:buChar char="•"/>
              <a:tabLst>
                <a:tab pos="4210050" algn="l"/>
              </a:tabLst>
            </a:pPr>
            <a:endParaRPr lang="fr-FR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07000"/>
              </a:lnSpc>
              <a:buFont typeface="Arial" panose="020B0604020202020204" pitchFamily="34" charset="0"/>
              <a:buChar char="•"/>
              <a:tabLst>
                <a:tab pos="4210050" algn="l"/>
              </a:tabLst>
            </a:pPr>
            <a:r>
              <a:rPr lang="fr-FR" sz="2400" dirty="0">
                <a:ea typeface="Calibri" panose="020F0502020204030204" pitchFamily="34" charset="0"/>
                <a:cs typeface="Times New Roman" panose="02020603050405020304" pitchFamily="18" charset="0"/>
              </a:rPr>
              <a:t>L</a:t>
            </a:r>
            <a:r>
              <a:rPr lang="fr-FR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es suppléants spéciaux sont désignés en tant que de besoin au sein des instances </a:t>
            </a:r>
          </a:p>
          <a:p>
            <a:pPr marL="342900" lvl="0" indent="-342900" algn="just">
              <a:lnSpc>
                <a:spcPct val="107000"/>
              </a:lnSpc>
              <a:buFont typeface="Arial" panose="020B0604020202020204" pitchFamily="34" charset="0"/>
              <a:buChar char="•"/>
              <a:tabLst>
                <a:tab pos="4210050" algn="l"/>
              </a:tabLst>
            </a:pPr>
            <a:endParaRPr lang="fr-FR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55270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A8153669-0119-E678-F816-AB92E230E13C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e think-cell" r:id="rId3" imgW="415" imgH="416" progId="TCLayout.ActiveDocument.1">
                  <p:embed/>
                </p:oleObj>
              </mc:Choice>
              <mc:Fallback>
                <p:oleObj name="Diapositive think-cell" r:id="rId3" imgW="415" imgH="416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A8153669-0119-E678-F816-AB92E230E13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574D40C-B127-544D-5B3A-3A7F22514A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3840" y="1508219"/>
            <a:ext cx="3522617" cy="4867730"/>
          </a:xfrm>
        </p:spPr>
        <p:txBody>
          <a:bodyPr/>
          <a:lstStyle/>
          <a:p>
            <a:pPr marL="0" indent="0">
              <a:buNone/>
            </a:pPr>
            <a:r>
              <a:rPr lang="fr-FR" sz="1600" dirty="0"/>
              <a:t>Illustration de l’élargissement </a:t>
            </a:r>
            <a:r>
              <a:rPr lang="fr-FR" sz="1600" b="1" dirty="0"/>
              <a:t>jusqu’à moins 3 GF au sein du même collège :</a:t>
            </a:r>
          </a:p>
          <a:p>
            <a:pPr marL="0" indent="0">
              <a:buNone/>
            </a:pPr>
            <a:endParaRPr lang="fr-FR" sz="800" dirty="0"/>
          </a:p>
          <a:p>
            <a:r>
              <a:rPr lang="fr-FR" sz="1600" dirty="0"/>
              <a:t>Souplesse significative pour les GF </a:t>
            </a:r>
            <a:br>
              <a:rPr lang="fr-FR" sz="1600" dirty="0"/>
            </a:br>
            <a:r>
              <a:rPr lang="fr-FR" sz="1600" dirty="0"/>
              <a:t>les + élevés du collège cadre</a:t>
            </a:r>
          </a:p>
          <a:p>
            <a:r>
              <a:rPr lang="fr-FR" sz="1600" dirty="0"/>
              <a:t> Concernant le GF 12, il n’y a pas d’assouplissement et en l’absence de membres de la CSP avec un GF≥ GF 12, il serait alors fait appel à des suppléants spéciaux</a:t>
            </a:r>
          </a:p>
          <a:p>
            <a:r>
              <a:rPr lang="fr-FR" sz="1600" dirty="0"/>
              <a:t>A noter que quel que soit le classement d’un cadre supérieur, l’élargissement jusqu’à moins 3 GF permet à ce qu’un représentant salarié en GF 17 ou plus puisse siéger en conseil </a:t>
            </a:r>
            <a:r>
              <a:rPr lang="fr-FR" sz="1600"/>
              <a:t>de discipline</a:t>
            </a:r>
            <a:endParaRPr lang="fr-FR" sz="1600" dirty="0"/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58E6878E-6536-E623-5136-FE980974677A}"/>
              </a:ext>
            </a:extLst>
          </p:cNvPr>
          <p:cNvSpPr txBox="1"/>
          <p:nvPr/>
        </p:nvSpPr>
        <p:spPr>
          <a:xfrm>
            <a:off x="5626478" y="6026509"/>
            <a:ext cx="456009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600" b="1" dirty="0">
                <a:solidFill>
                  <a:schemeClr val="tx2"/>
                </a:solidFill>
              </a:rPr>
              <a:t>X</a:t>
            </a:r>
            <a:r>
              <a:rPr lang="fr-FR" sz="1600" dirty="0"/>
              <a:t> : GF du salarié à convoquer en conseil de discipline</a:t>
            </a:r>
          </a:p>
        </p:txBody>
      </p:sp>
      <p:pic>
        <p:nvPicPr>
          <p:cNvPr id="25" name="Image 24">
            <a:extLst>
              <a:ext uri="{FF2B5EF4-FFF2-40B4-BE49-F238E27FC236}">
                <a16:creationId xmlns:a16="http://schemas.microsoft.com/office/drawing/2014/main" id="{BA9D4281-B1CC-53A5-E2D3-83E71819ADA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66457" y="1384662"/>
            <a:ext cx="7161969" cy="4666889"/>
          </a:xfrm>
          <a:prstGeom prst="rect">
            <a:avLst/>
          </a:prstGeom>
        </p:spPr>
      </p:pic>
      <p:sp>
        <p:nvSpPr>
          <p:cNvPr id="26" name="ZoneTexte 25">
            <a:extLst>
              <a:ext uri="{FF2B5EF4-FFF2-40B4-BE49-F238E27FC236}">
                <a16:creationId xmlns:a16="http://schemas.microsoft.com/office/drawing/2014/main" id="{68850FE5-47B6-9656-D783-AC577AD10FB6}"/>
              </a:ext>
            </a:extLst>
          </p:cNvPr>
          <p:cNvSpPr txBox="1"/>
          <p:nvPr/>
        </p:nvSpPr>
        <p:spPr>
          <a:xfrm>
            <a:off x="9666508" y="3669321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>
                <a:solidFill>
                  <a:schemeClr val="tx2"/>
                </a:solidFill>
              </a:rPr>
              <a:t>X</a:t>
            </a:r>
          </a:p>
        </p:txBody>
      </p:sp>
      <p:sp>
        <p:nvSpPr>
          <p:cNvPr id="28" name="Espace réservé du contenu 2">
            <a:extLst>
              <a:ext uri="{FF2B5EF4-FFF2-40B4-BE49-F238E27FC236}">
                <a16:creationId xmlns:a16="http://schemas.microsoft.com/office/drawing/2014/main" id="{B05F6480-205F-C25D-8F5A-137887118826}"/>
              </a:ext>
            </a:extLst>
          </p:cNvPr>
          <p:cNvSpPr txBox="1">
            <a:spLocks/>
          </p:cNvSpPr>
          <p:nvPr/>
        </p:nvSpPr>
        <p:spPr bwMode="auto">
          <a:xfrm>
            <a:off x="566056" y="676724"/>
            <a:ext cx="10983687" cy="4985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eaLnBrk="1" fontAlgn="base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fr-FR" sz="1600" dirty="0"/>
              <a:t>L’assouplissement de la condition de GF vise principalement à lever des contraintes rencontrées pour </a:t>
            </a:r>
            <a:br>
              <a:rPr lang="fr-FR" sz="1600" dirty="0"/>
            </a:br>
            <a:r>
              <a:rPr lang="fr-FR" sz="1600" dirty="0"/>
              <a:t>la tenue des conseils de discipline de salariés du collège cadre ou de la haute-maîtrise en CSP et en CSNP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571FEF90-14E7-C239-8244-B69288ED62AF}"/>
              </a:ext>
            </a:extLst>
          </p:cNvPr>
          <p:cNvSpPr txBox="1"/>
          <p:nvPr/>
        </p:nvSpPr>
        <p:spPr>
          <a:xfrm>
            <a:off x="243840" y="6339561"/>
            <a:ext cx="76015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i="1" dirty="0"/>
              <a:t>N.B. : cette illustration ne couvre pas tous les cas possibles</a:t>
            </a:r>
            <a:endParaRPr lang="fr-FR" i="1" dirty="0"/>
          </a:p>
        </p:txBody>
      </p:sp>
      <p:sp>
        <p:nvSpPr>
          <p:cNvPr id="8" name="Titre 1">
            <a:extLst>
              <a:ext uri="{FF2B5EF4-FFF2-40B4-BE49-F238E27FC236}">
                <a16:creationId xmlns:a16="http://schemas.microsoft.com/office/drawing/2014/main" id="{663F554A-0481-AFB9-279C-7C382C7544C7}"/>
              </a:ext>
            </a:extLst>
          </p:cNvPr>
          <p:cNvSpPr txBox="1">
            <a:spLocks/>
          </p:cNvSpPr>
          <p:nvPr/>
        </p:nvSpPr>
        <p:spPr bwMode="auto">
          <a:xfrm>
            <a:off x="1034143" y="-43579"/>
            <a:ext cx="11236234" cy="8114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r>
              <a:rPr lang="fr-FR" sz="4000" dirty="0"/>
              <a:t>4. Assouplissement de la condition de GF : exemples</a:t>
            </a:r>
          </a:p>
        </p:txBody>
      </p:sp>
    </p:spTree>
    <p:extLst>
      <p:ext uri="{BB962C8B-B14F-4D97-AF65-F5344CB8AC3E}">
        <p14:creationId xmlns:p14="http://schemas.microsoft.com/office/powerpoint/2010/main" val="38219860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D4C0FF8-2CCF-F54D-0AFD-785766C778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8623"/>
            <a:ext cx="10515600" cy="811451"/>
          </a:xfrm>
        </p:spPr>
        <p:txBody>
          <a:bodyPr/>
          <a:lstStyle/>
          <a:p>
            <a:r>
              <a:rPr lang="fr-FR" sz="4000" dirty="0"/>
              <a:t>5. </a:t>
            </a:r>
            <a:r>
              <a:rPr lang="fr-FR" sz="4000" kern="100" dirty="0">
                <a:effectLst/>
              </a:rPr>
              <a:t>Suppression de la condition d’appartenance du rapporteur en CSP ou en CSNP</a:t>
            </a:r>
            <a:br>
              <a:rPr lang="fr-FR" sz="4000" kern="100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fr-FR" sz="4000" dirty="0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1EBA190E-8206-AEF3-CA95-519229B2D9C1}"/>
              </a:ext>
            </a:extLst>
          </p:cNvPr>
          <p:cNvSpPr txBox="1"/>
          <p:nvPr/>
        </p:nvSpPr>
        <p:spPr>
          <a:xfrm>
            <a:off x="555248" y="1180074"/>
            <a:ext cx="10515600" cy="63975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just">
              <a:lnSpc>
                <a:spcPct val="107000"/>
              </a:lnSpc>
              <a:buFont typeface="Arial" panose="020B0604020202020204" pitchFamily="34" charset="0"/>
              <a:buChar char="•"/>
              <a:tabLst>
                <a:tab pos="4210050" algn="l"/>
              </a:tabLst>
            </a:pPr>
            <a:r>
              <a:rPr lang="fr-FR" sz="2400" b="1" dirty="0">
                <a:ea typeface="Calibri" panose="020F0502020204030204" pitchFamily="34" charset="0"/>
                <a:cs typeface="Times New Roman" panose="02020603050405020304" pitchFamily="18" charset="0"/>
              </a:rPr>
              <a:t>Un salarié non membre de la CSP peut désormais être désigné rapporteur, à la condition qu’il appartienne au périmètre de la CSP concernée. </a:t>
            </a:r>
            <a:r>
              <a:rPr lang="fr-FR" sz="2400" dirty="0">
                <a:ea typeface="Calibri" panose="020F0502020204030204" pitchFamily="34" charset="0"/>
                <a:cs typeface="Times New Roman" panose="02020603050405020304" pitchFamily="18" charset="0"/>
              </a:rPr>
              <a:t>Il est désigné </a:t>
            </a:r>
            <a:r>
              <a:rPr lang="fr-FR" sz="2400" b="1" dirty="0">
                <a:ea typeface="Calibri" panose="020F0502020204030204" pitchFamily="34" charset="0"/>
                <a:cs typeface="Times New Roman" panose="02020603050405020304" pitchFamily="18" charset="0"/>
              </a:rPr>
              <a:t>« rapporteur extérieur ». </a:t>
            </a:r>
          </a:p>
          <a:p>
            <a:pPr marL="342900" lvl="0" indent="-342900" algn="just">
              <a:lnSpc>
                <a:spcPct val="107000"/>
              </a:lnSpc>
              <a:buFont typeface="Arial" panose="020B0604020202020204" pitchFamily="34" charset="0"/>
              <a:buChar char="•"/>
              <a:tabLst>
                <a:tab pos="4210050" algn="l"/>
              </a:tabLst>
            </a:pPr>
            <a:endParaRPr lang="fr-FR" sz="2400" b="1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07000"/>
              </a:lnSpc>
              <a:buFont typeface="Arial" panose="020B0604020202020204" pitchFamily="34" charset="0"/>
              <a:buChar char="•"/>
              <a:tabLst>
                <a:tab pos="4210050" algn="l"/>
              </a:tabLst>
            </a:pPr>
            <a:r>
              <a:rPr lang="fr-FR" sz="2400" b="1" dirty="0">
                <a:ea typeface="Calibri" panose="020F0502020204030204" pitchFamily="34" charset="0"/>
                <a:cs typeface="Times New Roman" panose="02020603050405020304" pitchFamily="18" charset="0"/>
              </a:rPr>
              <a:t>Cette mesure peut être m</a:t>
            </a:r>
            <a:r>
              <a:rPr lang="fr-FR" sz="2400" b="1" dirty="0">
                <a:cs typeface="Times New Roman" panose="02020603050405020304" pitchFamily="18" charset="0"/>
              </a:rPr>
              <a:t>ise</a:t>
            </a:r>
            <a:r>
              <a:rPr lang="fr-FR" sz="2400" b="1" dirty="0">
                <a:ea typeface="Calibri" panose="020F0502020204030204" pitchFamily="34" charset="0"/>
                <a:cs typeface="Times New Roman" panose="02020603050405020304" pitchFamily="18" charset="0"/>
              </a:rPr>
              <a:t> en œuvre dans l’année de signature de l’accord,  soit d’ici le 31 décembre 2024</a:t>
            </a:r>
            <a:endParaRPr lang="fr-FR" sz="24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07000"/>
              </a:lnSpc>
              <a:buFont typeface="Arial" panose="020B0604020202020204" pitchFamily="34" charset="0"/>
              <a:buChar char="•"/>
              <a:tabLst>
                <a:tab pos="4210050" algn="l"/>
              </a:tabLst>
            </a:pPr>
            <a:endParaRPr lang="fr-FR" sz="24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07000"/>
              </a:lnSpc>
              <a:buFont typeface="Arial" panose="020B0604020202020204" pitchFamily="34" charset="0"/>
              <a:buChar char="•"/>
              <a:tabLst>
                <a:tab pos="4210050" algn="l"/>
              </a:tabLst>
            </a:pPr>
            <a:r>
              <a:rPr lang="fr-FR" sz="2400" b="1" dirty="0">
                <a:ea typeface="Calibri" panose="020F0502020204030204" pitchFamily="34" charset="0"/>
                <a:cs typeface="Times New Roman" panose="02020603050405020304" pitchFamily="18" charset="0"/>
              </a:rPr>
              <a:t>Une liste de rapporteurs extérieurs </a:t>
            </a:r>
            <a:r>
              <a:rPr lang="fr-FR" sz="2400" dirty="0">
                <a:ea typeface="Calibri" panose="020F0502020204030204" pitchFamily="34" charset="0"/>
                <a:cs typeface="Times New Roman" panose="02020603050405020304" pitchFamily="18" charset="0"/>
              </a:rPr>
              <a:t>peut être établie, mise à jour régulièrement et mise à disposition des membres dans chaque CSP</a:t>
            </a:r>
            <a:r>
              <a:rPr lang="fr-FR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 marL="342900" lvl="0" indent="-342900" algn="just">
              <a:lnSpc>
                <a:spcPct val="107000"/>
              </a:lnSpc>
              <a:buFont typeface="Arial" panose="020B0604020202020204" pitchFamily="34" charset="0"/>
              <a:buChar char="•"/>
              <a:tabLst>
                <a:tab pos="4210050" algn="l"/>
              </a:tabLst>
            </a:pPr>
            <a:endParaRPr lang="fr-FR" sz="240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07000"/>
              </a:lnSpc>
              <a:buFont typeface="Arial" panose="020B0604020202020204" pitchFamily="34" charset="0"/>
              <a:buChar char="•"/>
              <a:tabLst>
                <a:tab pos="4210050" algn="l"/>
              </a:tabLst>
            </a:pPr>
            <a:r>
              <a:rPr lang="fr-FR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En cas de recours à un rapporteur extérieur, </a:t>
            </a:r>
            <a:r>
              <a:rPr lang="fr-FR" sz="24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le secrétariat de l’instance est confié au secrétaire de l’instance, au secrétaire adjoint ou à un secrétaire de séance</a:t>
            </a:r>
            <a:r>
              <a:rPr lang="fr-FR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 Les modalités d’établissement et le délai de mise à disposition du </a:t>
            </a:r>
            <a:br>
              <a:rPr lang="fr-FR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fr-FR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PV sont convenus entre le Président et le secrétaire</a:t>
            </a:r>
          </a:p>
          <a:p>
            <a:pPr marL="342900" lvl="0" indent="-342900" algn="just">
              <a:lnSpc>
                <a:spcPct val="107000"/>
              </a:lnSpc>
              <a:buFont typeface="Arial" panose="020B0604020202020204" pitchFamily="34" charset="0"/>
              <a:buChar char="•"/>
              <a:tabLst>
                <a:tab pos="4210050" algn="l"/>
              </a:tabLst>
            </a:pPr>
            <a:endParaRPr lang="fr-FR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07000"/>
              </a:lnSpc>
              <a:buFont typeface="Arial" panose="020B0604020202020204" pitchFamily="34" charset="0"/>
              <a:buChar char="•"/>
              <a:tabLst>
                <a:tab pos="4210050" algn="l"/>
              </a:tabLst>
            </a:pPr>
            <a:endParaRPr lang="fr-FR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704984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D4C0FF8-2CCF-F54D-0AFD-785766C778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4008"/>
            <a:ext cx="11250168" cy="1229277"/>
          </a:xfrm>
        </p:spPr>
        <p:txBody>
          <a:bodyPr/>
          <a:lstStyle/>
          <a:p>
            <a:r>
              <a:rPr lang="fr-FR" sz="3600" dirty="0"/>
              <a:t>5. </a:t>
            </a:r>
            <a:r>
              <a:rPr lang="fr-FR" sz="3600" kern="100" dirty="0">
                <a:effectLst/>
              </a:rPr>
              <a:t>Suppression de la condition d’appartenance du rapporteur en CSP ou en CSNP (suite)</a:t>
            </a:r>
            <a:endParaRPr lang="fr-FR" sz="4000" dirty="0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1EBA190E-8206-AEF3-CA95-519229B2D9C1}"/>
              </a:ext>
            </a:extLst>
          </p:cNvPr>
          <p:cNvSpPr txBox="1"/>
          <p:nvPr/>
        </p:nvSpPr>
        <p:spPr>
          <a:xfrm>
            <a:off x="352082" y="1293285"/>
            <a:ext cx="11140363" cy="5706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just">
              <a:lnSpc>
                <a:spcPct val="107000"/>
              </a:lnSpc>
              <a:buFont typeface="Arial" panose="020B0604020202020204" pitchFamily="34" charset="0"/>
              <a:buChar char="•"/>
              <a:tabLst>
                <a:tab pos="4210050" algn="l"/>
              </a:tabLst>
            </a:pPr>
            <a:r>
              <a:rPr lang="fr-FR" sz="24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L’accord rappelle l’importance de l’impartialité du rapporteur</a:t>
            </a:r>
            <a:r>
              <a:rPr lang="fr-FR" sz="2400" b="1" dirty="0"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24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ainsi que </a:t>
            </a:r>
            <a:r>
              <a:rPr lang="fr-FR" sz="2400" b="1" dirty="0">
                <a:ea typeface="Calibri" panose="020F0502020204030204" pitchFamily="34" charset="0"/>
                <a:cs typeface="Times New Roman" panose="02020603050405020304" pitchFamily="18" charset="0"/>
              </a:rPr>
              <a:t>l’</a:t>
            </a:r>
            <a:r>
              <a:rPr lang="fr-FR" sz="24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obligation de confidentialité qui lui incombe dans le traitement du dossier</a:t>
            </a:r>
          </a:p>
          <a:p>
            <a:pPr marL="342900" lvl="0" indent="-342900" algn="just">
              <a:lnSpc>
                <a:spcPct val="107000"/>
              </a:lnSpc>
              <a:buFont typeface="Arial" panose="020B0604020202020204" pitchFamily="34" charset="0"/>
              <a:buChar char="•"/>
              <a:tabLst>
                <a:tab pos="4210050" algn="l"/>
              </a:tabLst>
            </a:pPr>
            <a:endParaRPr lang="fr-FR" sz="1000" b="1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07000"/>
              </a:lnSpc>
              <a:buFont typeface="Arial" panose="020B0604020202020204" pitchFamily="34" charset="0"/>
              <a:buChar char="•"/>
              <a:tabLst>
                <a:tab pos="4210050" algn="l"/>
              </a:tabLst>
            </a:pPr>
            <a:r>
              <a:rPr lang="fr-FR" sz="24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Le rapporteur, </a:t>
            </a:r>
            <a:r>
              <a:rPr lang="fr-FR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qu’il soit extérieur ou non à la CSP, </a:t>
            </a:r>
            <a:r>
              <a:rPr lang="fr-FR" sz="24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ne prend pas part aux votes et aux délibérés afin de respecter le principe d’impartialité. Il n’est également pas soumis à la condition de GF. </a:t>
            </a:r>
          </a:p>
          <a:p>
            <a:pPr marL="342900" indent="-342900" algn="just">
              <a:lnSpc>
                <a:spcPct val="107000"/>
              </a:lnSpc>
              <a:buFont typeface="Arial" panose="020B0604020202020204" pitchFamily="34" charset="0"/>
              <a:buChar char="•"/>
              <a:tabLst>
                <a:tab pos="4210050" algn="l"/>
              </a:tabLst>
            </a:pPr>
            <a:endParaRPr lang="fr-FR" sz="10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07000"/>
              </a:lnSpc>
              <a:buFont typeface="Arial" panose="020B0604020202020204" pitchFamily="34" charset="0"/>
              <a:buChar char="•"/>
              <a:tabLst>
                <a:tab pos="4210050" algn="l"/>
              </a:tabLst>
            </a:pPr>
            <a:r>
              <a:rPr lang="fr-FR" sz="2400" b="1" dirty="0">
                <a:ea typeface="Calibri" panose="020F0502020204030204" pitchFamily="34" charset="0"/>
                <a:cs typeface="Times New Roman" panose="02020603050405020304" pitchFamily="18" charset="0"/>
              </a:rPr>
              <a:t>Si le rapporteur est membre de l’instance : </a:t>
            </a:r>
            <a:r>
              <a:rPr lang="fr-FR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le Président doit </a:t>
            </a:r>
            <a:r>
              <a:rPr lang="fr-FR" sz="24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rétablir la parité en début de séance </a:t>
            </a:r>
            <a:r>
              <a:rPr lang="fr-FR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afin de respecter les obligations réglementaires.</a:t>
            </a:r>
          </a:p>
          <a:p>
            <a:pPr marL="342900" lvl="0" indent="-342900" algn="just">
              <a:lnSpc>
                <a:spcPct val="107000"/>
              </a:lnSpc>
              <a:buFont typeface="Arial" panose="020B0604020202020204" pitchFamily="34" charset="0"/>
              <a:buChar char="•"/>
              <a:tabLst>
                <a:tab pos="4210050" algn="l"/>
              </a:tabLst>
            </a:pPr>
            <a:endParaRPr lang="fr-FR" sz="10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07000"/>
              </a:lnSpc>
              <a:buFont typeface="Arial" panose="020B0604020202020204" pitchFamily="34" charset="0"/>
              <a:buChar char="•"/>
              <a:tabLst>
                <a:tab pos="4210050" algn="l"/>
              </a:tabLst>
            </a:pPr>
            <a:r>
              <a:rPr lang="fr-FR" sz="2400" b="1" dirty="0">
                <a:ea typeface="Calibri" panose="020F0502020204030204" pitchFamily="34" charset="0"/>
                <a:cs typeface="Times New Roman" panose="02020603050405020304" pitchFamily="18" charset="0"/>
              </a:rPr>
              <a:t>L’accompagnement des rapporteurs </a:t>
            </a:r>
            <a:r>
              <a:rPr lang="fr-FR" sz="2400" dirty="0">
                <a:ea typeface="Calibri" panose="020F0502020204030204" pitchFamily="34" charset="0"/>
                <a:cs typeface="Times New Roman" panose="02020603050405020304" pitchFamily="18" charset="0"/>
              </a:rPr>
              <a:t>(qu’ils soient extérieurs ou non à la CSP) est </a:t>
            </a:r>
            <a:r>
              <a:rPr lang="fr-FR" sz="2400" b="1" dirty="0">
                <a:ea typeface="Calibri" panose="020F0502020204030204" pitchFamily="34" charset="0"/>
                <a:cs typeface="Times New Roman" panose="02020603050405020304" pitchFamily="18" charset="0"/>
              </a:rPr>
              <a:t>réaffirmé dans l’accord </a:t>
            </a:r>
            <a:r>
              <a:rPr lang="fr-FR" sz="2400" dirty="0">
                <a:ea typeface="Calibri" panose="020F0502020204030204" pitchFamily="34" charset="0"/>
                <a:cs typeface="Times New Roman" panose="02020603050405020304" pitchFamily="18" charset="0"/>
              </a:rPr>
              <a:t>: les employeurs doivent donc animer les rapporteurs et les faire monter en compétence par les moyens qu’ils jugeront les plus appropriés (guide, e-learning, webconférences….). Il est également précisé que </a:t>
            </a:r>
            <a:r>
              <a:rPr lang="fr-FR" sz="2400" b="1" dirty="0">
                <a:ea typeface="Calibri" panose="020F0502020204030204" pitchFamily="34" charset="0"/>
                <a:cs typeface="Times New Roman" panose="02020603050405020304" pitchFamily="18" charset="0"/>
              </a:rPr>
              <a:t>le rapporteur extérieur doit bénéficier du temps nécessaire à l’exercice de sa mission</a:t>
            </a:r>
            <a:r>
              <a:rPr lang="fr-FR" sz="2400" dirty="0"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fr-FR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07000"/>
              </a:lnSpc>
              <a:buFont typeface="Arial" panose="020B0604020202020204" pitchFamily="34" charset="0"/>
              <a:buChar char="•"/>
              <a:tabLst>
                <a:tab pos="4210050" algn="l"/>
              </a:tabLst>
            </a:pPr>
            <a:endParaRPr lang="fr-FR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81289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D4C0FF8-2CCF-F54D-0AFD-785766C778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5429" y="177034"/>
            <a:ext cx="11538857" cy="811451"/>
          </a:xfrm>
        </p:spPr>
        <p:txBody>
          <a:bodyPr/>
          <a:lstStyle/>
          <a:p>
            <a:r>
              <a:rPr lang="fr-FR" sz="4000" dirty="0"/>
              <a:t>6. Mise à disposition du d</a:t>
            </a:r>
            <a:r>
              <a:rPr lang="fr-FR" sz="4000" kern="100" dirty="0">
                <a:effectLst/>
              </a:rPr>
              <a:t>ossier sous forme numérique</a:t>
            </a:r>
            <a:endParaRPr lang="fr-FR" sz="4000" dirty="0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4167A721-32BE-913A-0103-9C8A68B586E7}"/>
              </a:ext>
            </a:extLst>
          </p:cNvPr>
          <p:cNvSpPr txBox="1"/>
          <p:nvPr/>
        </p:nvSpPr>
        <p:spPr>
          <a:xfrm>
            <a:off x="528252" y="988485"/>
            <a:ext cx="10515600" cy="5643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just">
              <a:lnSpc>
                <a:spcPct val="107000"/>
              </a:lnSpc>
              <a:buFont typeface="Arial" panose="020B0604020202020204" pitchFamily="34" charset="0"/>
              <a:buChar char="•"/>
              <a:tabLst>
                <a:tab pos="4210050" algn="l"/>
              </a:tabLst>
            </a:pPr>
            <a:r>
              <a:rPr lang="fr-FR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Utilisation </a:t>
            </a:r>
            <a:r>
              <a:rPr lang="fr-FR" sz="24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d’une solution numérique (outil déjà existant ou solution à développer) permettant la consultation de l’ensemble des pièces</a:t>
            </a:r>
            <a:r>
              <a:rPr lang="fr-FR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dans leur version finale, versées au dossier de discipline au fil de l’eau, dans le respect des dispositions du RGPD et avec la sécurisation de l’accès</a:t>
            </a:r>
          </a:p>
          <a:p>
            <a:pPr marL="342900" lvl="0" indent="-342900" algn="just">
              <a:lnSpc>
                <a:spcPct val="107000"/>
              </a:lnSpc>
              <a:buFont typeface="Arial" panose="020B0604020202020204" pitchFamily="34" charset="0"/>
              <a:buChar char="•"/>
              <a:tabLst>
                <a:tab pos="4210050" algn="l"/>
              </a:tabLst>
            </a:pPr>
            <a:endParaRPr lang="fr-FR" sz="2400" b="1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07000"/>
              </a:lnSpc>
              <a:buFont typeface="Arial" panose="020B0604020202020204" pitchFamily="34" charset="0"/>
              <a:buChar char="•"/>
              <a:tabLst>
                <a:tab pos="4210050" algn="l"/>
              </a:tabLst>
            </a:pPr>
            <a:r>
              <a:rPr lang="fr-FR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 défaut de la possibilité d’utiliser un outil numérique, </a:t>
            </a:r>
            <a:r>
              <a:rPr lang="fr-FR" sz="24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la mise à disposition de l’ensemble des pièces du dossier sous format numérique au fil de l’eau via la messagerie électronique</a:t>
            </a:r>
            <a:r>
              <a:rPr lang="fr-FR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pourra être réalisée </a:t>
            </a:r>
            <a:r>
              <a:rPr lang="fr-FR" sz="24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à la demande écrite et tracée du salarié</a:t>
            </a:r>
          </a:p>
          <a:p>
            <a:pPr marL="342900" indent="-342900" algn="just">
              <a:lnSpc>
                <a:spcPct val="107000"/>
              </a:lnSpc>
              <a:buFont typeface="Arial" panose="020B0604020202020204" pitchFamily="34" charset="0"/>
              <a:buChar char="•"/>
              <a:tabLst>
                <a:tab pos="4210050" algn="l"/>
              </a:tabLst>
            </a:pPr>
            <a:endParaRPr lang="fr-FR" sz="100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10050" algn="l"/>
              </a:tabLst>
            </a:pPr>
            <a:r>
              <a:rPr lang="fr-FR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Pour les entreprises n’ayant pas de solution adaptée, </a:t>
            </a:r>
            <a:r>
              <a:rPr lang="fr-FR" sz="24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une solution sera étudiée à partir de l’outil de branche</a:t>
            </a:r>
            <a:r>
              <a:rPr lang="fr-FR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(espace de travail existant du site du SGE des IEG).</a:t>
            </a:r>
          </a:p>
          <a:p>
            <a:pPr marL="342900" indent="-342900" algn="just">
              <a:lnSpc>
                <a:spcPct val="107000"/>
              </a:lnSpc>
              <a:buFont typeface="Arial" panose="020B0604020202020204" pitchFamily="34" charset="0"/>
              <a:buChar char="•"/>
              <a:tabLst>
                <a:tab pos="4210050" algn="l"/>
              </a:tabLst>
            </a:pPr>
            <a:endParaRPr lang="fr-FR" sz="1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07000"/>
              </a:lnSpc>
              <a:buFont typeface="Arial" panose="020B0604020202020204" pitchFamily="34" charset="0"/>
              <a:buChar char="•"/>
              <a:tabLst>
                <a:tab pos="4210050" algn="l"/>
              </a:tabLst>
            </a:pPr>
            <a:r>
              <a:rPr lang="fr-FR" sz="2400" b="1" dirty="0">
                <a:ea typeface="Calibri" panose="020F0502020204030204" pitchFamily="34" charset="0"/>
                <a:cs typeface="Times New Roman" panose="02020603050405020304" pitchFamily="18" charset="0"/>
              </a:rPr>
              <a:t>Cette mesure peut être mise en œuvre au plus tard un an après la mise en œuvre de l’accord, soit d’ici le 31 mai 2025</a:t>
            </a:r>
            <a:endParaRPr lang="fr-FR" sz="24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710936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D4C0FF8-2CCF-F54D-0AFD-785766C778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1080" y="150909"/>
            <a:ext cx="10515600" cy="811451"/>
          </a:xfrm>
        </p:spPr>
        <p:txBody>
          <a:bodyPr/>
          <a:lstStyle/>
          <a:p>
            <a:r>
              <a:rPr lang="fr-FR" sz="4000" kern="100" dirty="0">
                <a:effectLst/>
              </a:rPr>
              <a:t>7. Révision du dispositif de recours</a:t>
            </a:r>
            <a:endParaRPr lang="fr-FR" sz="4000" dirty="0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8DC98392-7A44-421E-7454-0CB6855D7E43}"/>
              </a:ext>
            </a:extLst>
          </p:cNvPr>
          <p:cNvSpPr txBox="1"/>
          <p:nvPr/>
        </p:nvSpPr>
        <p:spPr>
          <a:xfrm>
            <a:off x="389786" y="962360"/>
            <a:ext cx="10515600" cy="54032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10050" algn="l"/>
              </a:tabLst>
            </a:pPr>
            <a:r>
              <a:rPr lang="fr-FR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La mesure vise à </a:t>
            </a:r>
            <a:r>
              <a:rPr lang="fr-FR" sz="20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optimiser le processus de recours</a:t>
            </a:r>
            <a:r>
              <a:rPr lang="fr-FR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pour le rendre plus efficace et plus lisible tout en maintenant les droits du salarié</a:t>
            </a:r>
          </a:p>
          <a:p>
            <a:pPr marL="342900" indent="-342900" algn="just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3471545" algn="l"/>
              </a:tabLst>
            </a:pPr>
            <a:r>
              <a:rPr lang="fr-FR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Le choix du recours par le salarié est fonction du niveau de sanction notifié : 	</a:t>
            </a:r>
          </a:p>
          <a:p>
            <a:pPr marL="742950" lvl="1" indent="-285750" algn="just">
              <a:lnSpc>
                <a:spcPct val="106000"/>
              </a:lnSpc>
              <a:buFont typeface="Calibri" panose="020F0502020204030204" pitchFamily="34" charset="0"/>
              <a:buChar char="-"/>
            </a:pPr>
            <a:r>
              <a:rPr lang="fr-FR" sz="20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En cas d’avertissement ou de blâme avec saisine de la CSP</a:t>
            </a:r>
            <a:r>
              <a:rPr lang="fr-FR" sz="2000" b="1" dirty="0"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fr-FR" sz="2000" dirty="0">
                <a:ea typeface="Calibri" panose="020F0502020204030204" pitchFamily="34" charset="0"/>
                <a:cs typeface="Times New Roman" panose="02020603050405020304" pitchFamily="18" charset="0"/>
              </a:rPr>
              <a:t>il</a:t>
            </a:r>
            <a:r>
              <a:rPr lang="fr-FR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peut choisir entre le recours auprès de la CSP (sans pouvoir faire un recours par la suite en CSNP) ou directement auprès de la CSNP ;</a:t>
            </a:r>
          </a:p>
          <a:p>
            <a:pPr marL="742950" lvl="1" indent="-285750" algn="just">
              <a:lnSpc>
                <a:spcPct val="106000"/>
              </a:lnSpc>
              <a:buFont typeface="Calibri" panose="020F0502020204030204" pitchFamily="34" charset="0"/>
              <a:buChar char="-"/>
            </a:pPr>
            <a:r>
              <a:rPr lang="fr-FR" sz="20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En cas de mise à pied ou de rétrogradation</a:t>
            </a:r>
            <a:r>
              <a:rPr lang="fr-FR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: il peut choisir entre recours auprès de la CSP (sans pouvoir faire un recours par la suite en CSNP) ou directement auprès de la CSNP ;</a:t>
            </a:r>
          </a:p>
          <a:p>
            <a:pPr marL="742950" lvl="1" indent="-285750" algn="just">
              <a:lnSpc>
                <a:spcPct val="106000"/>
              </a:lnSpc>
              <a:spcAft>
                <a:spcPts val="800"/>
              </a:spcAft>
              <a:buFont typeface="Calibri" panose="020F0502020204030204" pitchFamily="34" charset="0"/>
              <a:buChar char="-"/>
            </a:pPr>
            <a:r>
              <a:rPr lang="fr-FR" sz="20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En cas de mise à la retraite d’office</a:t>
            </a:r>
            <a:r>
              <a:rPr lang="fr-FR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: il peut choisir entre recours direct en CSNP (avec présence possible du salarié) ou recours auprès de la CSP puis éventuellement auprès de la CSNP (avec présence possible du salarié).</a:t>
            </a:r>
          </a:p>
          <a:p>
            <a:pPr marL="342900" indent="-342900" algn="just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10050" algn="l"/>
              </a:tabLst>
            </a:pPr>
            <a:r>
              <a:rPr lang="fr-FR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Pour les sanctions d’avertissement et de blâme qui sont directement notifiées au salarié par l’employeur sans saisine de la CSP, </a:t>
            </a:r>
            <a:r>
              <a:rPr lang="fr-FR" sz="20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le recours ne peut être effectué que devant la CSP locale sans possibilité de saisir la CSNP. </a:t>
            </a:r>
          </a:p>
          <a:p>
            <a:pPr marL="342900" indent="-342900" algn="just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10050" algn="l"/>
              </a:tabLst>
            </a:pPr>
            <a:r>
              <a:rPr lang="fr-FR" sz="2000" b="1" dirty="0">
                <a:ea typeface="Calibri" panose="020F0502020204030204" pitchFamily="34" charset="0"/>
                <a:cs typeface="Times New Roman" panose="02020603050405020304" pitchFamily="18" charset="0"/>
              </a:rPr>
              <a:t>L</a:t>
            </a:r>
            <a:r>
              <a:rPr lang="fr-FR" sz="20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 recours à titre gracieux reste toujours possible et constitue l’ultime possibilité de recours</a:t>
            </a:r>
          </a:p>
        </p:txBody>
      </p:sp>
    </p:spTree>
    <p:extLst>
      <p:ext uri="{BB962C8B-B14F-4D97-AF65-F5344CB8AC3E}">
        <p14:creationId xmlns:p14="http://schemas.microsoft.com/office/powerpoint/2010/main" val="37314743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7E46819-58A4-CE3C-1057-3CE0E060EB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8328" y="24031"/>
            <a:ext cx="11853672" cy="1325563"/>
          </a:xfrm>
        </p:spPr>
        <p:txBody>
          <a:bodyPr/>
          <a:lstStyle/>
          <a:p>
            <a:r>
              <a:rPr lang="fr-FR" sz="4000" dirty="0"/>
              <a:t>7. </a:t>
            </a:r>
            <a:r>
              <a:rPr lang="fr-FR" sz="4000" kern="100" dirty="0">
                <a:effectLst/>
              </a:rPr>
              <a:t>Révision du dispositif de recours : schéma de synthèse</a:t>
            </a:r>
            <a:endParaRPr lang="fr-FR" sz="4000" dirty="0"/>
          </a:p>
        </p:txBody>
      </p:sp>
      <p:graphicFrame>
        <p:nvGraphicFramePr>
          <p:cNvPr id="4" name="Espace réservé du contenu 3">
            <a:extLst>
              <a:ext uri="{FF2B5EF4-FFF2-40B4-BE49-F238E27FC236}">
                <a16:creationId xmlns:a16="http://schemas.microsoft.com/office/drawing/2014/main" id="{50FE8BF4-9FB8-9648-DA56-7209432A877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1446603"/>
              </p:ext>
            </p:extLst>
          </p:nvPr>
        </p:nvGraphicFramePr>
        <p:xfrm>
          <a:off x="1039608" y="1292646"/>
          <a:ext cx="9156032" cy="545562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" name="ZoneTexte 6">
            <a:extLst>
              <a:ext uri="{FF2B5EF4-FFF2-40B4-BE49-F238E27FC236}">
                <a16:creationId xmlns:a16="http://schemas.microsoft.com/office/drawing/2014/main" id="{21623038-A920-ABCA-36C4-C394FB8999E3}"/>
              </a:ext>
            </a:extLst>
          </p:cNvPr>
          <p:cNvSpPr txBox="1"/>
          <p:nvPr/>
        </p:nvSpPr>
        <p:spPr>
          <a:xfrm>
            <a:off x="9521870" y="3291627"/>
            <a:ext cx="134753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Le choix du salarié est irrévocable</a:t>
            </a:r>
          </a:p>
        </p:txBody>
      </p:sp>
      <p:pic>
        <p:nvPicPr>
          <p:cNvPr id="9" name="Graphique 8" descr="Avertissement avec un remplissage uni">
            <a:extLst>
              <a:ext uri="{FF2B5EF4-FFF2-40B4-BE49-F238E27FC236}">
                <a16:creationId xmlns:a16="http://schemas.microsoft.com/office/drawing/2014/main" id="{57F1AB7B-7103-43D9-0687-6ED3E15D288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750551" y="2553690"/>
            <a:ext cx="737937" cy="737937"/>
          </a:xfrm>
          <a:prstGeom prst="rect">
            <a:avLst/>
          </a:prstGeom>
        </p:spPr>
      </p:pic>
      <p:sp>
        <p:nvSpPr>
          <p:cNvPr id="3" name="ZoneTexte 2">
            <a:extLst>
              <a:ext uri="{FF2B5EF4-FFF2-40B4-BE49-F238E27FC236}">
                <a16:creationId xmlns:a16="http://schemas.microsoft.com/office/drawing/2014/main" id="{2E640DBF-DC36-7594-13EB-BC1EA2648AB9}"/>
              </a:ext>
            </a:extLst>
          </p:cNvPr>
          <p:cNvSpPr txBox="1"/>
          <p:nvPr/>
        </p:nvSpPr>
        <p:spPr>
          <a:xfrm>
            <a:off x="1325880" y="5488861"/>
            <a:ext cx="670480" cy="400110"/>
          </a:xfrm>
          <a:prstGeom prst="rect">
            <a:avLst/>
          </a:prstGeom>
          <a:solidFill>
            <a:schemeClr val="accent3"/>
          </a:solidFill>
          <a:ln>
            <a:solidFill>
              <a:schemeClr val="accent5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FR" sz="2000" b="1" dirty="0">
                <a:solidFill>
                  <a:schemeClr val="accent4"/>
                </a:solidFill>
              </a:rPr>
              <a:t>OU</a:t>
            </a:r>
          </a:p>
        </p:txBody>
      </p:sp>
    </p:spTree>
    <p:extLst>
      <p:ext uri="{BB962C8B-B14F-4D97-AF65-F5344CB8AC3E}">
        <p14:creationId xmlns:p14="http://schemas.microsoft.com/office/powerpoint/2010/main" val="11674242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D4C0FF8-2CCF-F54D-0AFD-785766C778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9160" y="0"/>
            <a:ext cx="10515600" cy="811451"/>
          </a:xfrm>
        </p:spPr>
        <p:txBody>
          <a:bodyPr/>
          <a:lstStyle/>
          <a:p>
            <a:r>
              <a:rPr lang="fr-FR" sz="4000" kern="100" dirty="0">
                <a:effectLst/>
              </a:rPr>
              <a:t>8. Les délais applicables au traitement d’un dossier</a:t>
            </a:r>
            <a:endParaRPr lang="fr-FR" sz="4000" dirty="0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0B448C71-768C-60EC-BB49-8EE783874586}"/>
              </a:ext>
            </a:extLst>
          </p:cNvPr>
          <p:cNvSpPr txBox="1"/>
          <p:nvPr/>
        </p:nvSpPr>
        <p:spPr>
          <a:xfrm>
            <a:off x="0" y="622727"/>
            <a:ext cx="11895909" cy="57331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10050" algn="l"/>
              </a:tabLst>
            </a:pPr>
            <a:r>
              <a:rPr lang="fr-FR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L’évolution des dispositifs de recours s’accompagne </a:t>
            </a:r>
            <a:r>
              <a:rPr lang="fr-FR" sz="20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d’une évolution des délais de traiteme</a:t>
            </a:r>
            <a:r>
              <a:rPr lang="fr-FR" sz="2000" b="1" dirty="0">
                <a:ea typeface="Calibri" panose="020F0502020204030204" pitchFamily="34" charset="0"/>
                <a:cs typeface="Times New Roman" panose="02020603050405020304" pitchFamily="18" charset="0"/>
              </a:rPr>
              <a:t>nt (</a:t>
            </a:r>
            <a:r>
              <a:rPr lang="fr-FR" sz="2000" b="1" dirty="0" err="1">
                <a:ea typeface="Calibri" panose="020F0502020204030204" pitchFamily="34" charset="0"/>
                <a:cs typeface="Times New Roman" panose="02020603050405020304" pitchFamily="18" charset="0"/>
              </a:rPr>
              <a:t>cf</a:t>
            </a:r>
            <a:r>
              <a:rPr lang="fr-FR" sz="2000" b="1" dirty="0">
                <a:ea typeface="Calibri" panose="020F0502020204030204" pitchFamily="34" charset="0"/>
                <a:cs typeface="Times New Roman" panose="02020603050405020304" pitchFamily="18" charset="0"/>
              </a:rPr>
              <a:t> annexes)</a:t>
            </a:r>
            <a:endParaRPr lang="fr-FR" sz="200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  <a:tabLst>
                <a:tab pos="4210050" algn="l"/>
              </a:tabLst>
            </a:pPr>
            <a:r>
              <a:rPr lang="fr-FR" sz="1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fr-FR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07000"/>
              </a:lnSpc>
              <a:buFont typeface="Arial" panose="020B0604020202020204" pitchFamily="34" charset="0"/>
              <a:buChar char="•"/>
              <a:tabLst>
                <a:tab pos="4210050" algn="l"/>
              </a:tabLst>
            </a:pPr>
            <a:r>
              <a:rPr lang="fr-FR" sz="20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Exercice de la voie de recours de niveau 1 </a:t>
            </a:r>
            <a:r>
              <a:rPr lang="fr-FR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soit vers la CSP locale soit directement en CSNP (en fonction du choix du salarié), </a:t>
            </a:r>
            <a:r>
              <a:rPr lang="fr-FR" sz="20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15 jours</a:t>
            </a:r>
            <a:r>
              <a:rPr lang="fr-FR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20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à compter de la date de réception par le salarié de la sanction notifiée par l’autorité compétente. </a:t>
            </a:r>
            <a:r>
              <a:rPr lang="fr-FR" sz="2000" b="1" dirty="0"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Les délais sont les mêmes, </a:t>
            </a:r>
            <a:r>
              <a:rPr lang="fr-FR" sz="20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soit 15 jours</a:t>
            </a:r>
            <a:r>
              <a:rPr lang="fr-FR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pour </a:t>
            </a:r>
            <a:r>
              <a:rPr lang="fr-FR" sz="20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la voie de recours éventuelle de niveau 2 </a:t>
            </a:r>
            <a:r>
              <a:rPr lang="fr-FR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spécifique aux sanctions de mise à la retraite d’office et pour </a:t>
            </a:r>
            <a:r>
              <a:rPr lang="fr-FR" sz="20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l’exercice de la voie de recours gracieux en CSNP</a:t>
            </a:r>
            <a:r>
              <a:rPr lang="fr-FR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à compter de la date de notification du maintien de la sanction par l’autorité compétente</a:t>
            </a:r>
          </a:p>
          <a:p>
            <a:pPr marL="277495" algn="just">
              <a:lnSpc>
                <a:spcPct val="107000"/>
              </a:lnSpc>
              <a:tabLst>
                <a:tab pos="4210050" algn="l"/>
              </a:tabLst>
            </a:pPr>
            <a:r>
              <a:rPr lang="fr-FR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  <a:p>
            <a:pPr marL="342900" lvl="0" indent="-342900" algn="just">
              <a:lnSpc>
                <a:spcPct val="107000"/>
              </a:lnSpc>
              <a:buFont typeface="Arial" panose="020B0604020202020204" pitchFamily="34" charset="0"/>
              <a:buChar char="•"/>
              <a:tabLst>
                <a:tab pos="4210050" algn="l"/>
              </a:tabLst>
            </a:pPr>
            <a:r>
              <a:rPr lang="fr-FR" sz="20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Tenue de l’instance d’examen du recours de niveau 1</a:t>
            </a:r>
            <a:r>
              <a:rPr lang="fr-FR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(soit CSP locale soit CSNP) </a:t>
            </a:r>
            <a:r>
              <a:rPr lang="fr-FR" sz="20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dans un délai de 3 mois </a:t>
            </a:r>
            <a:r>
              <a:rPr lang="fr-FR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à l’issue de la première année de l’accord (délai de 6 mois durant la 1</a:t>
            </a:r>
            <a:r>
              <a:rPr lang="fr-FR" sz="2000" baseline="30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ère</a:t>
            </a:r>
            <a:r>
              <a:rPr lang="fr-FR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année d’expérimentation), en neutralisant la période du 1</a:t>
            </a:r>
            <a:r>
              <a:rPr lang="fr-FR" sz="2000" baseline="30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er</a:t>
            </a:r>
            <a:r>
              <a:rPr lang="fr-FR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juillet au 31 août, </a:t>
            </a:r>
            <a:r>
              <a:rPr lang="fr-FR" sz="20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à compter de la date de réception de la demande de recours motivée,</a:t>
            </a:r>
            <a:r>
              <a:rPr lang="fr-FR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soit par le Président de la CSP locale soit par le secrétariat de la CSNP. Les délais sont les mêmes pour la </a:t>
            </a:r>
            <a:r>
              <a:rPr lang="fr-FR" sz="20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voie de recours éventuelle de niveau 2 spécifique aux sanctions de mise à la retraite d’office pour la tenue de l’instance d’examen du recours gracieux</a:t>
            </a:r>
            <a:r>
              <a:rPr lang="fr-FR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  <a:p>
            <a:pPr marL="342900" lvl="0" indent="-342900" algn="just">
              <a:lnSpc>
                <a:spcPct val="107000"/>
              </a:lnSpc>
              <a:buFont typeface="Arial" panose="020B0604020202020204" pitchFamily="34" charset="0"/>
              <a:buChar char="•"/>
              <a:tabLst>
                <a:tab pos="4210050" algn="l"/>
              </a:tabLst>
            </a:pPr>
            <a:endParaRPr lang="fr-FR" sz="200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07000"/>
              </a:lnSpc>
              <a:buFont typeface="Arial" panose="020B0604020202020204" pitchFamily="34" charset="0"/>
              <a:buChar char="•"/>
              <a:tabLst>
                <a:tab pos="4210050" algn="l"/>
              </a:tabLst>
            </a:pPr>
            <a:r>
              <a:rPr lang="fr-FR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Le délai de transmission d’un dossier de requête à la CSNP par l’autorité compétente </a:t>
            </a:r>
            <a:br>
              <a:rPr lang="fr-FR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fr-FR" sz="20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ne devra pas excéder 15 jours calendaires à compter de la réception de la demande de recours du salarié</a:t>
            </a:r>
            <a:r>
              <a:rPr lang="fr-FR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29392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D4C0FF8-2CCF-F54D-0AFD-785766C778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3814" y="76109"/>
            <a:ext cx="10515600" cy="811451"/>
          </a:xfrm>
        </p:spPr>
        <p:txBody>
          <a:bodyPr/>
          <a:lstStyle/>
          <a:p>
            <a:r>
              <a:rPr lang="fr-FR" kern="100" dirty="0"/>
              <a:t>9</a:t>
            </a:r>
            <a:r>
              <a:rPr lang="fr-FR" kern="100" dirty="0">
                <a:effectLst/>
              </a:rPr>
              <a:t>. Suivi de l’accord</a:t>
            </a:r>
            <a:endParaRPr lang="fr-FR" dirty="0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879041D6-FD11-2A5C-E1EC-B7B5E14699D9}"/>
              </a:ext>
            </a:extLst>
          </p:cNvPr>
          <p:cNvSpPr txBox="1"/>
          <p:nvPr/>
        </p:nvSpPr>
        <p:spPr>
          <a:xfrm>
            <a:off x="304800" y="1810896"/>
            <a:ext cx="10515600" cy="36313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just">
              <a:lnSpc>
                <a:spcPct val="107000"/>
              </a:lnSpc>
              <a:buFont typeface="Arial" panose="020B0604020202020204" pitchFamily="34" charset="0"/>
              <a:buChar char="•"/>
              <a:tabLst>
                <a:tab pos="4210050" algn="l"/>
              </a:tabLst>
            </a:pPr>
            <a:r>
              <a:rPr lang="fr-FR" sz="24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Un comité de pilotage </a:t>
            </a:r>
            <a:r>
              <a:rPr lang="fr-FR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composé des signataires de l’accord </a:t>
            </a:r>
            <a:r>
              <a:rPr lang="fr-FR" sz="24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examinera la mise en œuvre de l’expérimentation au bout d’un an (soit début juin 2025), puis tous les 6 mois à compter de début juin 2025</a:t>
            </a:r>
          </a:p>
          <a:p>
            <a:pPr marL="342900" lvl="0" indent="-342900" algn="just">
              <a:lnSpc>
                <a:spcPct val="107000"/>
              </a:lnSpc>
              <a:buFont typeface="Arial" panose="020B0604020202020204" pitchFamily="34" charset="0"/>
              <a:buChar char="•"/>
              <a:tabLst>
                <a:tab pos="4210050" algn="l"/>
              </a:tabLst>
            </a:pPr>
            <a:endParaRPr lang="fr-FR" sz="24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07000"/>
              </a:lnSpc>
              <a:buFont typeface="Arial" panose="020B0604020202020204" pitchFamily="34" charset="0"/>
              <a:buChar char="•"/>
              <a:tabLst>
                <a:tab pos="4210050" algn="l"/>
              </a:tabLst>
            </a:pPr>
            <a:endParaRPr lang="fr-FR" sz="24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07000"/>
              </a:lnSpc>
              <a:buFont typeface="Arial" panose="020B0604020202020204" pitchFamily="34" charset="0"/>
              <a:buChar char="•"/>
              <a:tabLst>
                <a:tab pos="4210050" algn="l"/>
              </a:tabLst>
            </a:pPr>
            <a:r>
              <a:rPr lang="fr-FR" sz="2400" b="1" dirty="0">
                <a:ea typeface="Calibri" panose="020F0502020204030204" pitchFamily="34" charset="0"/>
                <a:cs typeface="Times New Roman" panose="02020603050405020304" pitchFamily="18" charset="0"/>
              </a:rPr>
              <a:t>Ce comité de pilotage travaillera notamment à partir des indicateurs de suivi annuels qui seront à remonter par chaque employeur (</a:t>
            </a:r>
            <a:r>
              <a:rPr lang="fr-FR" sz="2400" b="1" dirty="0" err="1">
                <a:ea typeface="Calibri" panose="020F0502020204030204" pitchFamily="34" charset="0"/>
                <a:cs typeface="Times New Roman" panose="02020603050405020304" pitchFamily="18" charset="0"/>
              </a:rPr>
              <a:t>cf</a:t>
            </a:r>
            <a:r>
              <a:rPr lang="fr-FR" sz="2400" b="1" dirty="0">
                <a:ea typeface="Calibri" panose="020F0502020204030204" pitchFamily="34" charset="0"/>
                <a:cs typeface="Times New Roman" panose="02020603050405020304" pitchFamily="18" charset="0"/>
              </a:rPr>
              <a:t> détails ci-après) et sur les questions / réponses traitées à l’occasion de la mise en œuvre de l’accord</a:t>
            </a:r>
            <a:endParaRPr lang="fr-FR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07000"/>
              </a:lnSpc>
              <a:buFont typeface="Arial" panose="020B0604020202020204" pitchFamily="34" charset="0"/>
              <a:buChar char="•"/>
              <a:tabLst>
                <a:tab pos="4210050" algn="l"/>
              </a:tabLst>
            </a:pPr>
            <a:endParaRPr lang="fr-FR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94577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0DA361BB-F9BC-BF7D-C038-449134E9909B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2473158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e think-cell" r:id="rId3" imgW="415" imgH="416" progId="TCLayout.ActiveDocument.1">
                  <p:embed/>
                </p:oleObj>
              </mc:Choice>
              <mc:Fallback>
                <p:oleObj name="Diapositive think-cell" r:id="rId3" imgW="415" imgH="416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DA361BB-F9BC-BF7D-C038-449134E9909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re 1">
            <a:extLst>
              <a:ext uri="{FF2B5EF4-FFF2-40B4-BE49-F238E27FC236}">
                <a16:creationId xmlns:a16="http://schemas.microsoft.com/office/drawing/2014/main" id="{F8E01308-F17F-FF90-C245-3BE504A5B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0730" y="-241334"/>
            <a:ext cx="9872777" cy="1325563"/>
          </a:xfrm>
        </p:spPr>
        <p:txBody>
          <a:bodyPr vert="horz"/>
          <a:lstStyle/>
          <a:p>
            <a:r>
              <a:rPr lang="fr-FR" kern="100" dirty="0">
                <a:effectLst/>
              </a:rPr>
              <a:t>9. Suivi de l’accord (suite)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5A8D630-F461-4D37-BF8E-C29A062EBD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6686" y="861848"/>
            <a:ext cx="10515600" cy="4729392"/>
          </a:xfrm>
        </p:spPr>
        <p:txBody>
          <a:bodyPr/>
          <a:lstStyle/>
          <a:p>
            <a:pPr marL="0" indent="0">
              <a:buNone/>
            </a:pPr>
            <a:r>
              <a:rPr lang="fr-FR" sz="2000" dirty="0"/>
              <a:t>Pour les entreprises ayant eu des dossiers disciplinaires à traiter et la CSNP, il </a:t>
            </a:r>
            <a:r>
              <a:rPr lang="fr-FR" sz="2000" b="1" dirty="0"/>
              <a:t>est demandé de remonter chaque année  au SGE (adresse mail à préciser, </a:t>
            </a:r>
            <a:r>
              <a:rPr lang="fr-FR" sz="2000" dirty="0"/>
              <a:t>via le modèle de fichier Excel ci-joint):</a:t>
            </a:r>
          </a:p>
          <a:p>
            <a:pPr marL="0" indent="0">
              <a:buNone/>
            </a:pPr>
            <a:endParaRPr lang="fr-FR" sz="1600" dirty="0"/>
          </a:p>
          <a:p>
            <a:r>
              <a:rPr lang="fr-FR" sz="2000" dirty="0"/>
              <a:t>Nombre de Conseils de Discipline ayant eu recours à l’assouplissement de GF,</a:t>
            </a:r>
          </a:p>
          <a:p>
            <a:r>
              <a:rPr lang="fr-FR" sz="2000" dirty="0"/>
              <a:t>Nombre de Conseils de Discipline ayant désigné des rapporteurs extérieurs (CSP et CSNP),</a:t>
            </a:r>
          </a:p>
          <a:p>
            <a:r>
              <a:rPr lang="fr-FR" sz="2000" dirty="0"/>
              <a:t>Actions de professionnalisation menées,</a:t>
            </a:r>
          </a:p>
          <a:p>
            <a:r>
              <a:rPr lang="fr-FR" sz="2000" dirty="0"/>
              <a:t>Nombre d’entreprises ayant mis en place un dispositif de consultation du dossier par voie numérique, </a:t>
            </a:r>
          </a:p>
          <a:p>
            <a:r>
              <a:rPr lang="fr-FR" sz="2000" dirty="0"/>
              <a:t>Nombre d’entreprises ayant demandé l’accès à un espace de travail spécifique au SGE des IEG,</a:t>
            </a:r>
          </a:p>
          <a:p>
            <a:r>
              <a:rPr lang="fr-FR" sz="2000" dirty="0"/>
              <a:t>Nombre de dossiers disciplinaires ayant fait l’objet de recours et traités dans le cadre de cet accord, avec la distinction des voies de recours utilisées au regard de la sanction,</a:t>
            </a:r>
          </a:p>
          <a:p>
            <a:r>
              <a:rPr lang="fr-FR" sz="2000" dirty="0"/>
              <a:t>Evolution du flux et du stock de requêtes en CSNP (volume et délais moyens de traitement)</a:t>
            </a:r>
          </a:p>
        </p:txBody>
      </p:sp>
      <p:pic>
        <p:nvPicPr>
          <p:cNvPr id="5" name="Graphique 4" descr="Badge Nouveau avec un remplissage uni">
            <a:extLst>
              <a:ext uri="{FF2B5EF4-FFF2-40B4-BE49-F238E27FC236}">
                <a16:creationId xmlns:a16="http://schemas.microsoft.com/office/drawing/2014/main" id="{8A4DED35-9F64-FC28-0DF7-535DF2644D5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7131" y="1933575"/>
            <a:ext cx="340518" cy="340518"/>
          </a:xfrm>
          <a:prstGeom prst="rect">
            <a:avLst/>
          </a:prstGeom>
        </p:spPr>
      </p:pic>
      <p:pic>
        <p:nvPicPr>
          <p:cNvPr id="7" name="Graphique 6" descr="Badge Nouveau avec un remplissage uni">
            <a:extLst>
              <a:ext uri="{FF2B5EF4-FFF2-40B4-BE49-F238E27FC236}">
                <a16:creationId xmlns:a16="http://schemas.microsoft.com/office/drawing/2014/main" id="{A69F3172-0280-8171-55DD-C898257181E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41272" y="5842649"/>
            <a:ext cx="340518" cy="340518"/>
          </a:xfrm>
          <a:prstGeom prst="rect">
            <a:avLst/>
          </a:prstGeom>
        </p:spPr>
      </p:pic>
      <p:pic>
        <p:nvPicPr>
          <p:cNvPr id="8" name="Graphique 7" descr="Badge Nouveau avec un remplissage uni">
            <a:extLst>
              <a:ext uri="{FF2B5EF4-FFF2-40B4-BE49-F238E27FC236}">
                <a16:creationId xmlns:a16="http://schemas.microsoft.com/office/drawing/2014/main" id="{0347A61F-E50C-7853-18B6-FD358C095BB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41272" y="6248901"/>
            <a:ext cx="340518" cy="340518"/>
          </a:xfrm>
          <a:prstGeom prst="rect">
            <a:avLst/>
          </a:prstGeom>
        </p:spPr>
      </p:pic>
      <p:sp>
        <p:nvSpPr>
          <p:cNvPr id="9" name="ZoneTexte 8">
            <a:extLst>
              <a:ext uri="{FF2B5EF4-FFF2-40B4-BE49-F238E27FC236}">
                <a16:creationId xmlns:a16="http://schemas.microsoft.com/office/drawing/2014/main" id="{22B4A9B8-83A1-1E3D-8971-3E84AAB76294}"/>
              </a:ext>
            </a:extLst>
          </p:cNvPr>
          <p:cNvSpPr txBox="1"/>
          <p:nvPr/>
        </p:nvSpPr>
        <p:spPr>
          <a:xfrm>
            <a:off x="661737" y="5813835"/>
            <a:ext cx="41308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Entreprises (CSD ou CS de recours interne)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79E321C8-D564-3F06-C09A-A04F634AA4D9}"/>
              </a:ext>
            </a:extLst>
          </p:cNvPr>
          <p:cNvSpPr txBox="1"/>
          <p:nvPr/>
        </p:nvSpPr>
        <p:spPr>
          <a:xfrm>
            <a:off x="681790" y="6248901"/>
            <a:ext cx="52726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CSNP (recours ou faisant office de CSD) / SGE</a:t>
            </a:r>
          </a:p>
        </p:txBody>
      </p:sp>
      <p:pic>
        <p:nvPicPr>
          <p:cNvPr id="11" name="Graphique 10" descr="Badge Nouveau avec un remplissage uni">
            <a:extLst>
              <a:ext uri="{FF2B5EF4-FFF2-40B4-BE49-F238E27FC236}">
                <a16:creationId xmlns:a16="http://schemas.microsoft.com/office/drawing/2014/main" id="{9ED3E5B5-6990-FB77-177B-E58261E7A73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37649" y="1931254"/>
            <a:ext cx="340518" cy="340518"/>
          </a:xfrm>
          <a:prstGeom prst="rect">
            <a:avLst/>
          </a:prstGeom>
        </p:spPr>
      </p:pic>
      <p:pic>
        <p:nvPicPr>
          <p:cNvPr id="12" name="Graphique 11" descr="Badge Nouveau avec un remplissage uni">
            <a:extLst>
              <a:ext uri="{FF2B5EF4-FFF2-40B4-BE49-F238E27FC236}">
                <a16:creationId xmlns:a16="http://schemas.microsoft.com/office/drawing/2014/main" id="{FD148ECA-D775-E3E7-CCEA-F1685D17206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7131" y="2310713"/>
            <a:ext cx="340518" cy="340518"/>
          </a:xfrm>
          <a:prstGeom prst="rect">
            <a:avLst/>
          </a:prstGeom>
        </p:spPr>
      </p:pic>
      <p:pic>
        <p:nvPicPr>
          <p:cNvPr id="13" name="Graphique 12" descr="Badge Nouveau avec un remplissage uni">
            <a:extLst>
              <a:ext uri="{FF2B5EF4-FFF2-40B4-BE49-F238E27FC236}">
                <a16:creationId xmlns:a16="http://schemas.microsoft.com/office/drawing/2014/main" id="{FB3B0300-A963-B31B-6482-AA0EF0720F0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37649" y="2308392"/>
            <a:ext cx="340518" cy="340518"/>
          </a:xfrm>
          <a:prstGeom prst="rect">
            <a:avLst/>
          </a:prstGeom>
        </p:spPr>
      </p:pic>
      <p:pic>
        <p:nvPicPr>
          <p:cNvPr id="14" name="Graphique 13" descr="Badge Nouveau avec un remplissage uni">
            <a:extLst>
              <a:ext uri="{FF2B5EF4-FFF2-40B4-BE49-F238E27FC236}">
                <a16:creationId xmlns:a16="http://schemas.microsoft.com/office/drawing/2014/main" id="{63E3ED82-9CCE-7896-A831-BF0FF144BB2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7131" y="2687851"/>
            <a:ext cx="340518" cy="340518"/>
          </a:xfrm>
          <a:prstGeom prst="rect">
            <a:avLst/>
          </a:prstGeom>
        </p:spPr>
      </p:pic>
      <p:pic>
        <p:nvPicPr>
          <p:cNvPr id="15" name="Graphique 14" descr="Badge Nouveau avec un remplissage uni">
            <a:extLst>
              <a:ext uri="{FF2B5EF4-FFF2-40B4-BE49-F238E27FC236}">
                <a16:creationId xmlns:a16="http://schemas.microsoft.com/office/drawing/2014/main" id="{AF9C8853-62D0-D24E-2C4F-B09056697E4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37649" y="2685530"/>
            <a:ext cx="340518" cy="340518"/>
          </a:xfrm>
          <a:prstGeom prst="rect">
            <a:avLst/>
          </a:prstGeom>
        </p:spPr>
      </p:pic>
      <p:pic>
        <p:nvPicPr>
          <p:cNvPr id="16" name="Graphique 15" descr="Badge Nouveau avec un remplissage uni">
            <a:extLst>
              <a:ext uri="{FF2B5EF4-FFF2-40B4-BE49-F238E27FC236}">
                <a16:creationId xmlns:a16="http://schemas.microsoft.com/office/drawing/2014/main" id="{0C94DC22-48FF-DA7F-737A-461213CB70A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7131" y="3141744"/>
            <a:ext cx="340518" cy="340518"/>
          </a:xfrm>
          <a:prstGeom prst="rect">
            <a:avLst/>
          </a:prstGeom>
        </p:spPr>
      </p:pic>
      <p:pic>
        <p:nvPicPr>
          <p:cNvPr id="19" name="Graphique 18" descr="Badge Nouveau avec un remplissage uni">
            <a:extLst>
              <a:ext uri="{FF2B5EF4-FFF2-40B4-BE49-F238E27FC236}">
                <a16:creationId xmlns:a16="http://schemas.microsoft.com/office/drawing/2014/main" id="{A0EB4779-4E72-E34B-DD91-C3E18A10FE6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37649" y="3777242"/>
            <a:ext cx="340518" cy="340518"/>
          </a:xfrm>
          <a:prstGeom prst="rect">
            <a:avLst/>
          </a:prstGeom>
        </p:spPr>
      </p:pic>
      <p:pic>
        <p:nvPicPr>
          <p:cNvPr id="20" name="Graphique 19" descr="Badge Nouveau avec un remplissage uni">
            <a:extLst>
              <a:ext uri="{FF2B5EF4-FFF2-40B4-BE49-F238E27FC236}">
                <a16:creationId xmlns:a16="http://schemas.microsoft.com/office/drawing/2014/main" id="{9DE44968-9F28-1CEA-16B7-23139A0A72F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7131" y="4223010"/>
            <a:ext cx="340518" cy="340518"/>
          </a:xfrm>
          <a:prstGeom prst="rect">
            <a:avLst/>
          </a:prstGeom>
        </p:spPr>
      </p:pic>
      <p:pic>
        <p:nvPicPr>
          <p:cNvPr id="21" name="Graphique 20" descr="Badge Nouveau avec un remplissage uni">
            <a:extLst>
              <a:ext uri="{FF2B5EF4-FFF2-40B4-BE49-F238E27FC236}">
                <a16:creationId xmlns:a16="http://schemas.microsoft.com/office/drawing/2014/main" id="{40B0E93B-BAAC-C761-832B-D919440D92C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37649" y="4220689"/>
            <a:ext cx="340518" cy="340518"/>
          </a:xfrm>
          <a:prstGeom prst="rect">
            <a:avLst/>
          </a:prstGeom>
        </p:spPr>
      </p:pic>
      <p:pic>
        <p:nvPicPr>
          <p:cNvPr id="22" name="Graphique 21" descr="Badge Nouveau avec un remplissage uni">
            <a:extLst>
              <a:ext uri="{FF2B5EF4-FFF2-40B4-BE49-F238E27FC236}">
                <a16:creationId xmlns:a16="http://schemas.microsoft.com/office/drawing/2014/main" id="{8F3C2DBE-0BB1-EC18-ED62-8DE8FAC836C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37649" y="4866633"/>
            <a:ext cx="340518" cy="3405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51960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D4C0FF8-2CCF-F54D-0AFD-785766C778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3814" y="76109"/>
            <a:ext cx="10515600" cy="811451"/>
          </a:xfrm>
        </p:spPr>
        <p:txBody>
          <a:bodyPr/>
          <a:lstStyle/>
          <a:p>
            <a:r>
              <a:rPr lang="fr-FR" kern="100" dirty="0"/>
              <a:t>10</a:t>
            </a:r>
            <a:r>
              <a:rPr lang="fr-FR" kern="100" dirty="0">
                <a:effectLst/>
              </a:rPr>
              <a:t>. Les documents à votre disposition</a:t>
            </a:r>
            <a:endParaRPr lang="fr-FR" dirty="0"/>
          </a:p>
        </p:txBody>
      </p:sp>
      <p:grpSp>
        <p:nvGrpSpPr>
          <p:cNvPr id="12" name="Groupe 11">
            <a:extLst>
              <a:ext uri="{FF2B5EF4-FFF2-40B4-BE49-F238E27FC236}">
                <a16:creationId xmlns:a16="http://schemas.microsoft.com/office/drawing/2014/main" id="{C2BA8FCF-5A63-E1A5-313E-0C36BC2F1F77}"/>
              </a:ext>
            </a:extLst>
          </p:cNvPr>
          <p:cNvGrpSpPr/>
          <p:nvPr/>
        </p:nvGrpSpPr>
        <p:grpSpPr>
          <a:xfrm>
            <a:off x="786675" y="1020583"/>
            <a:ext cx="11001159" cy="5262979"/>
            <a:chOff x="807696" y="1479102"/>
            <a:chExt cx="11001159" cy="5262979"/>
          </a:xfrm>
        </p:grpSpPr>
        <p:sp>
          <p:nvSpPr>
            <p:cNvPr id="5" name="ZoneTexte 4">
              <a:extLst>
                <a:ext uri="{FF2B5EF4-FFF2-40B4-BE49-F238E27FC236}">
                  <a16:creationId xmlns:a16="http://schemas.microsoft.com/office/drawing/2014/main" id="{E48C1BA3-5301-1495-5533-1E4DDDFB3374}"/>
                </a:ext>
              </a:extLst>
            </p:cNvPr>
            <p:cNvSpPr txBox="1"/>
            <p:nvPr/>
          </p:nvSpPr>
          <p:spPr>
            <a:xfrm>
              <a:off x="864958" y="1479102"/>
              <a:ext cx="10943897" cy="526297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1"/>
              <a:r>
                <a:rPr lang="fr-FR" sz="2400" b="1" dirty="0"/>
                <a:t>L’accord expérimental du 5 avril 2024</a:t>
              </a:r>
            </a:p>
            <a:p>
              <a:pPr lvl="1"/>
              <a:endParaRPr lang="fr-FR" sz="2400" b="1" dirty="0"/>
            </a:p>
            <a:p>
              <a:pPr lvl="1"/>
              <a:r>
                <a:rPr lang="fr-FR" sz="2400" b="1" dirty="0"/>
                <a:t>La Pers 846 commentée </a:t>
              </a:r>
              <a:r>
                <a:rPr lang="fr-FR" sz="2400" dirty="0"/>
                <a:t>incluant des encarts permettant d’identifier les changements de procédure ou de délais</a:t>
              </a:r>
            </a:p>
            <a:p>
              <a:pPr lvl="1"/>
              <a:endParaRPr lang="fr-FR" sz="2400" dirty="0"/>
            </a:p>
            <a:p>
              <a:pPr lvl="1"/>
              <a:r>
                <a:rPr lang="fr-FR" sz="2400" b="1" dirty="0"/>
                <a:t>Les accords de Branche relatifs au fonctionnement des CSP commentés </a:t>
              </a:r>
              <a:r>
                <a:rPr lang="fr-FR" sz="2400" dirty="0"/>
                <a:t>incluant des encarts permettant d’identifier les changements de procédure ou de délais</a:t>
              </a:r>
            </a:p>
            <a:p>
              <a:pPr lvl="1"/>
              <a:endParaRPr lang="fr-FR" sz="2400" dirty="0"/>
            </a:p>
            <a:p>
              <a:pPr lvl="1"/>
              <a:r>
                <a:rPr lang="fr-FR" sz="2400" b="1" dirty="0"/>
                <a:t>Mémento du rapporteur </a:t>
              </a:r>
              <a:r>
                <a:rPr lang="fr-FR" sz="2400" dirty="0"/>
                <a:t>: pour mise à disposition auprès des rapporteurs </a:t>
              </a:r>
              <a:br>
                <a:rPr lang="fr-FR" sz="2400" dirty="0"/>
              </a:br>
              <a:r>
                <a:rPr lang="fr-FR" sz="2400" dirty="0"/>
                <a:t>CSNP et CSP</a:t>
              </a:r>
            </a:p>
            <a:p>
              <a:pPr lvl="1"/>
              <a:endParaRPr lang="fr-FR" sz="2400" dirty="0"/>
            </a:p>
            <a:p>
              <a:pPr lvl="1"/>
              <a:r>
                <a:rPr lang="fr-FR" sz="2400" b="1" dirty="0"/>
                <a:t>Mémento discipline </a:t>
              </a:r>
              <a:r>
                <a:rPr lang="fr-FR" sz="2400" dirty="0"/>
                <a:t>pour les entreprises n’ayant pas de CSP</a:t>
              </a:r>
            </a:p>
            <a:p>
              <a:pPr lvl="1"/>
              <a:endParaRPr lang="fr-FR" sz="2400" dirty="0"/>
            </a:p>
            <a:p>
              <a:pPr lvl="1"/>
              <a:r>
                <a:rPr lang="fr-FR" sz="2400" b="1" dirty="0"/>
                <a:t>Le fichier Excel permettant de remonter les indicateurs du suivi de l’accord</a:t>
              </a:r>
              <a:endParaRPr lang="fr-FR" sz="2400" dirty="0"/>
            </a:p>
          </p:txBody>
        </p:sp>
        <p:pic>
          <p:nvPicPr>
            <p:cNvPr id="6" name="Graphique 5" descr="Document avec un remplissage uni">
              <a:extLst>
                <a:ext uri="{FF2B5EF4-FFF2-40B4-BE49-F238E27FC236}">
                  <a16:creationId xmlns:a16="http://schemas.microsoft.com/office/drawing/2014/main" id="{5BC3B4B9-B40C-2C1A-5C38-07E07EDDA29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807696" y="1573176"/>
              <a:ext cx="331728" cy="331728"/>
            </a:xfrm>
            <a:prstGeom prst="rect">
              <a:avLst/>
            </a:prstGeom>
          </p:spPr>
        </p:pic>
        <p:pic>
          <p:nvPicPr>
            <p:cNvPr id="7" name="Graphique 6" descr="Document avec un remplissage uni">
              <a:extLst>
                <a:ext uri="{FF2B5EF4-FFF2-40B4-BE49-F238E27FC236}">
                  <a16:creationId xmlns:a16="http://schemas.microsoft.com/office/drawing/2014/main" id="{C5E0AC46-D7E0-5BB0-118D-9EFD435B1BD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838327" y="2285389"/>
              <a:ext cx="331728" cy="331728"/>
            </a:xfrm>
            <a:prstGeom prst="rect">
              <a:avLst/>
            </a:prstGeom>
          </p:spPr>
        </p:pic>
        <p:pic>
          <p:nvPicPr>
            <p:cNvPr id="8" name="Graphique 7" descr="Document avec un remplissage uni">
              <a:extLst>
                <a:ext uri="{FF2B5EF4-FFF2-40B4-BE49-F238E27FC236}">
                  <a16:creationId xmlns:a16="http://schemas.microsoft.com/office/drawing/2014/main" id="{51D80021-3832-4F62-339F-D97FD6E1F60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864958" y="3390730"/>
              <a:ext cx="331728" cy="331728"/>
            </a:xfrm>
            <a:prstGeom prst="rect">
              <a:avLst/>
            </a:prstGeom>
          </p:spPr>
        </p:pic>
        <p:pic>
          <p:nvPicPr>
            <p:cNvPr id="9" name="Graphique 8" descr="Document avec un remplissage uni">
              <a:extLst>
                <a:ext uri="{FF2B5EF4-FFF2-40B4-BE49-F238E27FC236}">
                  <a16:creationId xmlns:a16="http://schemas.microsoft.com/office/drawing/2014/main" id="{D5C05641-601E-1543-5C6B-2E2A2F137BA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864958" y="4496071"/>
              <a:ext cx="331728" cy="331728"/>
            </a:xfrm>
            <a:prstGeom prst="rect">
              <a:avLst/>
            </a:prstGeom>
          </p:spPr>
        </p:pic>
        <p:pic>
          <p:nvPicPr>
            <p:cNvPr id="10" name="Graphique 9" descr="Document avec un remplissage uni">
              <a:extLst>
                <a:ext uri="{FF2B5EF4-FFF2-40B4-BE49-F238E27FC236}">
                  <a16:creationId xmlns:a16="http://schemas.microsoft.com/office/drawing/2014/main" id="{CB38643F-F239-66FF-FDC8-A84447C83DE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864958" y="5601412"/>
              <a:ext cx="331728" cy="331728"/>
            </a:xfrm>
            <a:prstGeom prst="rect">
              <a:avLst/>
            </a:prstGeom>
          </p:spPr>
        </p:pic>
      </p:grpSp>
      <p:pic>
        <p:nvPicPr>
          <p:cNvPr id="3" name="Graphique 2" descr="Document avec un remplissage uni">
            <a:extLst>
              <a:ext uri="{FF2B5EF4-FFF2-40B4-BE49-F238E27FC236}">
                <a16:creationId xmlns:a16="http://schemas.microsoft.com/office/drawing/2014/main" id="{080C2094-FDAC-2B80-CDCD-8650522B13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52148" y="5846607"/>
            <a:ext cx="331728" cy="331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29106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D4C0FF8-2CCF-F54D-0AFD-785766C778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7606" y="2542903"/>
            <a:ext cx="10515600" cy="811451"/>
          </a:xfrm>
        </p:spPr>
        <p:txBody>
          <a:bodyPr/>
          <a:lstStyle/>
          <a:p>
            <a:pPr algn="ctr"/>
            <a:r>
              <a:rPr lang="fr-FR" sz="4000" kern="100" dirty="0"/>
              <a:t>Annexes</a:t>
            </a:r>
            <a:br>
              <a:rPr lang="fr-FR" sz="4000" kern="100" dirty="0"/>
            </a:br>
            <a:br>
              <a:rPr lang="fr-FR" sz="4000" kern="100" dirty="0"/>
            </a:br>
            <a:r>
              <a:rPr lang="fr-FR" sz="4000" kern="100" dirty="0"/>
              <a:t>Logigrammes des voies de recours</a:t>
            </a:r>
            <a:br>
              <a:rPr lang="fr-FR" sz="4000" kern="100" dirty="0"/>
            </a:br>
            <a:br>
              <a:rPr lang="fr-FR" sz="4000" kern="100" dirty="0"/>
            </a:br>
            <a:endParaRPr lang="fr-FR" sz="4000" dirty="0"/>
          </a:p>
        </p:txBody>
      </p:sp>
    </p:spTree>
    <p:extLst>
      <p:ext uri="{BB962C8B-B14F-4D97-AF65-F5344CB8AC3E}">
        <p14:creationId xmlns:p14="http://schemas.microsoft.com/office/powerpoint/2010/main" val="349296518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Image 37">
            <a:extLst>
              <a:ext uri="{FF2B5EF4-FFF2-40B4-BE49-F238E27FC236}">
                <a16:creationId xmlns:a16="http://schemas.microsoft.com/office/drawing/2014/main" id="{16674D8E-74F0-D2EF-C816-74614D1B3C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2612" y="292608"/>
            <a:ext cx="6248317" cy="6501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661159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C146D028-49B6-73AE-6E43-2615E07F14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7990" y="358765"/>
            <a:ext cx="5225565" cy="6279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960905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62DA67E4-1FB3-5A8F-F9CE-018A3A22D7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0885" y="151075"/>
            <a:ext cx="5250230" cy="6599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501579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SGE new">
  <a:themeElements>
    <a:clrScheme name="SGE">
      <a:dk1>
        <a:srgbClr val="3F54A1"/>
      </a:dk1>
      <a:lt1>
        <a:srgbClr val="FFFFFF"/>
      </a:lt1>
      <a:dk2>
        <a:srgbClr val="212745"/>
      </a:dk2>
      <a:lt2>
        <a:srgbClr val="FFFFFF"/>
      </a:lt2>
      <a:accent1>
        <a:srgbClr val="6277C2"/>
      </a:accent1>
      <a:accent2>
        <a:srgbClr val="3F54A1"/>
      </a:accent2>
      <a:accent3>
        <a:srgbClr val="F296DA"/>
      </a:accent3>
      <a:accent4>
        <a:srgbClr val="A71681"/>
      </a:accent4>
      <a:accent5>
        <a:srgbClr val="E745BD"/>
      </a:accent5>
      <a:accent6>
        <a:srgbClr val="7030A0"/>
      </a:accent6>
      <a:hlink>
        <a:srgbClr val="4E67C8"/>
      </a:hlink>
      <a:folHlink>
        <a:srgbClr val="7030A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GE new" id="{1484243D-EBEA-4DDB-9A86-4F46067A401E}" vid="{8A22E887-A1BD-40D8-B545-1CC2B7FC4333}"/>
    </a:ext>
  </a:extLst>
</a:theme>
</file>

<file path=ppt/theme/theme2.xml><?xml version="1.0" encoding="utf-8"?>
<a:theme xmlns:a="http://schemas.openxmlformats.org/drawingml/2006/main" name="1_Conception personnalisée">
  <a:themeElements>
    <a:clrScheme name="SGE">
      <a:dk1>
        <a:srgbClr val="3F54A1"/>
      </a:dk1>
      <a:lt1>
        <a:srgbClr val="FFFFFF"/>
      </a:lt1>
      <a:dk2>
        <a:srgbClr val="212745"/>
      </a:dk2>
      <a:lt2>
        <a:srgbClr val="FFFFFF"/>
      </a:lt2>
      <a:accent1>
        <a:srgbClr val="6277C2"/>
      </a:accent1>
      <a:accent2>
        <a:srgbClr val="3F54A1"/>
      </a:accent2>
      <a:accent3>
        <a:srgbClr val="F296DA"/>
      </a:accent3>
      <a:accent4>
        <a:srgbClr val="A71681"/>
      </a:accent4>
      <a:accent5>
        <a:srgbClr val="E745BD"/>
      </a:accent5>
      <a:accent6>
        <a:srgbClr val="7030A0"/>
      </a:accent6>
      <a:hlink>
        <a:srgbClr val="4E67C8"/>
      </a:hlink>
      <a:folHlink>
        <a:srgbClr val="7030A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ésentation1" id="{C699ED15-CD7D-4276-BC19-3650D314140B}" vid="{4D3DD9FF-3763-401F-AC9C-38CD6B89BF5B}"/>
    </a:ext>
  </a:extLst>
</a:theme>
</file>

<file path=ppt/theme/theme3.xml><?xml version="1.0" encoding="utf-8"?>
<a:theme xmlns:a="http://schemas.openxmlformats.org/drawingml/2006/main" name="2_Conception personnalisée">
  <a:themeElements>
    <a:clrScheme name="SGE">
      <a:dk1>
        <a:srgbClr val="3F54A1"/>
      </a:dk1>
      <a:lt1>
        <a:srgbClr val="FFFFFF"/>
      </a:lt1>
      <a:dk2>
        <a:srgbClr val="212745"/>
      </a:dk2>
      <a:lt2>
        <a:srgbClr val="FFFFFF"/>
      </a:lt2>
      <a:accent1>
        <a:srgbClr val="6277C2"/>
      </a:accent1>
      <a:accent2>
        <a:srgbClr val="3F54A1"/>
      </a:accent2>
      <a:accent3>
        <a:srgbClr val="F296DA"/>
      </a:accent3>
      <a:accent4>
        <a:srgbClr val="A71681"/>
      </a:accent4>
      <a:accent5>
        <a:srgbClr val="E745BD"/>
      </a:accent5>
      <a:accent6>
        <a:srgbClr val="7030A0"/>
      </a:accent6>
      <a:hlink>
        <a:srgbClr val="4E67C8"/>
      </a:hlink>
      <a:folHlink>
        <a:srgbClr val="7030A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ésentation1" id="{C699ED15-CD7D-4276-BC19-3650D314140B}" vid="{3F2ABCF0-D723-4184-8A10-06558B0511F5}"/>
    </a:ext>
  </a:extLst>
</a:theme>
</file>

<file path=ppt/theme/theme4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959E6429B90E741931F0A49BDB9127A" ma:contentTypeVersion="0" ma:contentTypeDescription="Crée un document." ma:contentTypeScope="" ma:versionID="99638e2d9be945b9525a2269e3a78b62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f9028b6788f95684bad4f0cdee3402c9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E09D6676-B375-4DC9-9780-B5423D2DDC7C}"/>
</file>

<file path=customXml/itemProps2.xml><?xml version="1.0" encoding="utf-8"?>
<ds:datastoreItem xmlns:ds="http://schemas.openxmlformats.org/officeDocument/2006/customXml" ds:itemID="{7B1EB79E-CACC-4ECD-B08B-DF12A88F60CE}"/>
</file>

<file path=customXml/itemProps3.xml><?xml version="1.0" encoding="utf-8"?>
<ds:datastoreItem xmlns:ds="http://schemas.openxmlformats.org/officeDocument/2006/customXml" ds:itemID="{F4D5EBC7-1B61-4168-9BB2-162E593778A9}"/>
</file>

<file path=docMetadata/LabelInfo.xml><?xml version="1.0" encoding="utf-8"?>
<clbl:labelList xmlns:clbl="http://schemas.microsoft.com/office/2020/mipLabelMetadata">
  <clbl:label id="{c135c4ba-2280-41f8-be7d-6f21d368baa3}" enabled="1" method="Standard" siteId="{24139d14-c62c-4c47-8bdd-ce71ea1d50cf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SGE new</Template>
  <TotalTime>67</TotalTime>
  <Words>2356</Words>
  <Application>Microsoft Office PowerPoint</Application>
  <PresentationFormat>Grand écran</PresentationFormat>
  <Paragraphs>146</Paragraphs>
  <Slides>20</Slides>
  <Notes>0</Notes>
  <HiddenSlides>0</HiddenSlides>
  <MMClips>0</MMClips>
  <ScaleCrop>false</ScaleCrop>
  <HeadingPairs>
    <vt:vector size="8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3</vt:i4>
      </vt:variant>
      <vt:variant>
        <vt:lpstr>Serveurs OLE incorporés</vt:lpstr>
      </vt:variant>
      <vt:variant>
        <vt:i4>1</vt:i4>
      </vt:variant>
      <vt:variant>
        <vt:lpstr>Titres des diapositives</vt:lpstr>
      </vt:variant>
      <vt:variant>
        <vt:i4>20</vt:i4>
      </vt:variant>
    </vt:vector>
  </HeadingPairs>
  <TitlesOfParts>
    <vt:vector size="29" baseType="lpstr">
      <vt:lpstr>Aptos</vt:lpstr>
      <vt:lpstr>Arial</vt:lpstr>
      <vt:lpstr>Calibri</vt:lpstr>
      <vt:lpstr>Calibri Light</vt:lpstr>
      <vt:lpstr>Times New Roman</vt:lpstr>
      <vt:lpstr>SGE new</vt:lpstr>
      <vt:lpstr>1_Conception personnalisée</vt:lpstr>
      <vt:lpstr>2_Conception personnalisée</vt:lpstr>
      <vt:lpstr>Diapositive think-cell</vt:lpstr>
      <vt:lpstr>       Kit de déploiement  Accord Expérimental  relatif à la discipline  Version du 17 mai 2024</vt:lpstr>
      <vt:lpstr>Sommaire</vt:lpstr>
      <vt:lpstr>1. Contexte</vt:lpstr>
      <vt:lpstr>2. Les 4 grandes mesures prévues par l’accord expérimental</vt:lpstr>
      <vt:lpstr>3. Dates de mise en œuvre des mesures </vt:lpstr>
      <vt:lpstr>4. Assouplissement de la condition de GF</vt:lpstr>
      <vt:lpstr>Présentation PowerPoint</vt:lpstr>
      <vt:lpstr>5. Suppression de la condition d’appartenance du rapporteur en CSP ou en CSNP </vt:lpstr>
      <vt:lpstr>5. Suppression de la condition d’appartenance du rapporteur en CSP ou en CSNP (suite)</vt:lpstr>
      <vt:lpstr>6. Mise à disposition du dossier sous forme numérique</vt:lpstr>
      <vt:lpstr>7. Révision du dispositif de recours</vt:lpstr>
      <vt:lpstr>7. Révision du dispositif de recours : schéma de synthèse</vt:lpstr>
      <vt:lpstr>8. Les délais applicables au traitement d’un dossier</vt:lpstr>
      <vt:lpstr>9. Suivi de l’accord</vt:lpstr>
      <vt:lpstr>9. Suivi de l’accord (suite)</vt:lpstr>
      <vt:lpstr>10. Les documents à votre disposition</vt:lpstr>
      <vt:lpstr>Annexes  Logigrammes des voies de recours  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ORIT BELLITY</dc:creator>
  <cp:lastModifiedBy>ORIT BELLITY</cp:lastModifiedBy>
  <cp:revision>52</cp:revision>
  <cp:lastPrinted>2024-04-29T11:00:01Z</cp:lastPrinted>
  <dcterms:created xsi:type="dcterms:W3CDTF">2024-02-19T07:38:32Z</dcterms:created>
  <dcterms:modified xsi:type="dcterms:W3CDTF">2024-05-17T14:09:43Z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2d26f538-337a-4593-a7e6-123667b1a538_Enabled">
    <vt:lpwstr>true</vt:lpwstr>
  </property>
  <property fmtid="{D5CDD505-2E9C-101B-9397-08002B2CF9AE}" pid="3" name="MSIP_Label_2d26f538-337a-4593-a7e6-123667b1a538_SetDate">
    <vt:lpwstr>2024-04-26T16:07:43Z</vt:lpwstr>
  </property>
  <property fmtid="{D5CDD505-2E9C-101B-9397-08002B2CF9AE}" pid="4" name="MSIP_Label_2d26f538-337a-4593-a7e6-123667b1a538_Method">
    <vt:lpwstr>Standard</vt:lpwstr>
  </property>
  <property fmtid="{D5CDD505-2E9C-101B-9397-08002B2CF9AE}" pid="5" name="MSIP_Label_2d26f538-337a-4593-a7e6-123667b1a538_Name">
    <vt:lpwstr>C1 Interne</vt:lpwstr>
  </property>
  <property fmtid="{D5CDD505-2E9C-101B-9397-08002B2CF9AE}" pid="6" name="MSIP_Label_2d26f538-337a-4593-a7e6-123667b1a538_SiteId">
    <vt:lpwstr>e242425b-70fc-44dc-9ddf-c21e304e6c80</vt:lpwstr>
  </property>
  <property fmtid="{D5CDD505-2E9C-101B-9397-08002B2CF9AE}" pid="7" name="MSIP_Label_2d26f538-337a-4593-a7e6-123667b1a538_ActionId">
    <vt:lpwstr>76518bcd-089b-470f-8e28-9014f77e5a35</vt:lpwstr>
  </property>
  <property fmtid="{D5CDD505-2E9C-101B-9397-08002B2CF9AE}" pid="8" name="MSIP_Label_2d26f538-337a-4593-a7e6-123667b1a538_ContentBits">
    <vt:lpwstr>0</vt:lpwstr>
  </property>
  <property fmtid="{D5CDD505-2E9C-101B-9397-08002B2CF9AE}" pid="9" name="ContentTypeId">
    <vt:lpwstr>0x010100E959E6429B90E741931F0A49BDB9127A</vt:lpwstr>
  </property>
  <property fmtid="{D5CDD505-2E9C-101B-9397-08002B2CF9AE}" pid="10" name="Order">
    <vt:r8>2434400</vt:r8>
  </property>
</Properties>
</file>